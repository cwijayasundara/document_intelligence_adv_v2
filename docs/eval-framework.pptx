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 snapToObjects="1">
      <p:cViewPr varScale="1">
        <p:scale>
          <a:sx n="120" d="100"/>
          <a:sy n="120" d="100"/>
        </p:scale>
        <p:origin x="440" y="18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4/24/26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502920" y="2011680"/>
            <a:ext cx="548640" cy="73152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502920" y="2194560"/>
            <a:ext cx="10972800" cy="4572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2E86DE"/>
                </a:solidFill>
                <a:latin typeface="Inter"/>
              </a:rPr>
              <a:t>PE DOCUMENT INTELLIGENCE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606040"/>
            <a:ext cx="10972800" cy="109728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5400" b="1">
                <a:solidFill>
                  <a:srgbClr val="FFFFFF"/>
                </a:solidFill>
                <a:latin typeface="Inter"/>
              </a:rPr>
              <a:t>Evaluation Framework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703320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Grading every LLM touchpoint of the LangGraph pipeline,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4023360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000" b="0">
                <a:solidFill>
                  <a:srgbClr val="FFFFFF"/>
                </a:solidFill>
                <a:latin typeface="Inter"/>
              </a:rPr>
              <a:t>the RAG layer, and the data agent.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58521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2E86DE"/>
                </a:solidFill>
                <a:latin typeface="Inter"/>
              </a:rPr>
              <a:t>Backend: backend/evals  ·  Tests: backend/tests/evals  ·  Migration: alembic 004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17220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FFFFFF"/>
                </a:solidFill>
                <a:latin typeface="Inter"/>
              </a:rPr>
              <a:t>Stack: Python · LangGraph · LangSmith · Postgres · React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E86DE"/>
                </a:solidFill>
                <a:latin typeface="Inter"/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0D2A4A"/>
                </a:solidFill>
                <a:latin typeface="Inter"/>
              </a:rPr>
              <a:t>Why a dedicated eval framework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8640" cy="36576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57784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73152" cy="233172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527048"/>
            <a:ext cx="5257800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0D2A4A"/>
                </a:solidFill>
                <a:latin typeface="Inter"/>
              </a:rPr>
              <a:t>Eight LLM surfaces, one quality contract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5257800" cy="176479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Classifier, extractor, judge, summarizer.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RAG retriever + agentic ReAct.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NL→SQL data agent, full pipeline graph.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Each one needs its own definition of correct.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417320"/>
            <a:ext cx="557784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73152" cy="233172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92240" y="1527048"/>
            <a:ext cx="5257800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0D2A4A"/>
                </a:solidFill>
                <a:latin typeface="Inter"/>
              </a:rPr>
              <a:t>Catch silent regressions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920240"/>
            <a:ext cx="5257800" cy="176479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Model upgrades change accuracy and calibration.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Prompt edits can break refusal behaviour.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Confidence drift goes unnoticed without ECE.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931920"/>
            <a:ext cx="557784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502920" y="3931920"/>
            <a:ext cx="73152" cy="23317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31520" y="4041648"/>
            <a:ext cx="5257800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0D2A4A"/>
                </a:solidFill>
                <a:latin typeface="Inter"/>
              </a:rPr>
              <a:t>Close the dogfood loop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434840"/>
            <a:ext cx="5257800" cy="176479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Every UI correction lands in long-term memory.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Harvest job replays them as regression tests.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New corrections become new tests, automatically.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3931920"/>
            <a:ext cx="5577840" cy="23317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263640" y="3931920"/>
            <a:ext cx="73152" cy="233172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492240" y="4041648"/>
            <a:ext cx="5257800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0D2A4A"/>
                </a:solidFill>
                <a:latin typeface="Inter"/>
              </a:rPr>
              <a:t>Trust through provenance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434840"/>
            <a:ext cx="5257800" cy="176479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Every run stores model, judge model, git SHA.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Per-example prediction + expected + score.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Trends per (stage, evaluator) over time.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PE Document Intelligence  ·  Evaluation Framework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2 /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E86DE"/>
                </a:solidFill>
                <a:latin typeface="Inter"/>
              </a:rPr>
              <a:t>OVERVIEW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0D2A4A"/>
                </a:solidFill>
                <a:latin typeface="Inter"/>
              </a:rPr>
              <a:t>Architecture at a glance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8640" cy="36576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1020927" y="1554480"/>
            <a:ext cx="1920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1020927" y="1554480"/>
            <a:ext cx="1920240" cy="914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20927" y="1719072"/>
            <a:ext cx="192024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400" b="1">
                <a:solidFill>
                  <a:srgbClr val="0D2A4A"/>
                </a:solidFill>
                <a:latin typeface="Inter"/>
              </a:rPr>
              <a:t>Datasets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0927" y="2011680"/>
            <a:ext cx="1920240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JSONL goldens</a:t>
            </a:r>
          </a:p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per stage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2950311" y="1847088"/>
            <a:ext cx="118872" cy="18288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078327" y="1554480"/>
            <a:ext cx="1920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078327" y="1554480"/>
            <a:ext cx="1920240" cy="914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078327" y="1719072"/>
            <a:ext cx="192024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400" b="1">
                <a:solidFill>
                  <a:srgbClr val="0D2A4A"/>
                </a:solidFill>
                <a:latin typeface="Inter"/>
              </a:rPr>
              <a:t>Runner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78327" y="2011680"/>
            <a:ext cx="1920240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Loads, calls</a:t>
            </a:r>
          </a:p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production LLM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007711" y="1847088"/>
            <a:ext cx="118872" cy="18288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5135727" y="1554480"/>
            <a:ext cx="1920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135727" y="1554480"/>
            <a:ext cx="192024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135727" y="1719072"/>
            <a:ext cx="192024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400" b="1">
                <a:solidFill>
                  <a:srgbClr val="0D2A4A"/>
                </a:solidFill>
                <a:latin typeface="Inter"/>
              </a:rPr>
              <a:t>Evaluators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35727" y="2011680"/>
            <a:ext cx="1920240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Metric · Judge</a:t>
            </a:r>
          </a:p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Rubric · Trajectory</a:t>
            </a:r>
          </a:p>
        </p:txBody>
      </p:sp>
      <p:sp>
        <p:nvSpPr>
          <p:cNvPr id="20" name="Right Arrow 19"/>
          <p:cNvSpPr/>
          <p:nvPr/>
        </p:nvSpPr>
        <p:spPr>
          <a:xfrm>
            <a:off x="7065111" y="1847088"/>
            <a:ext cx="118872" cy="18288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7193127" y="1554480"/>
            <a:ext cx="1920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7193127" y="1554480"/>
            <a:ext cx="1920240" cy="9144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193127" y="1719072"/>
            <a:ext cx="192024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400" b="1">
                <a:solidFill>
                  <a:srgbClr val="0D2A4A"/>
                </a:solidFill>
                <a:latin typeface="Inter"/>
              </a:rPr>
              <a:t>Persistence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193127" y="2011680"/>
            <a:ext cx="1920240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eval_runs +</a:t>
            </a:r>
          </a:p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eval_results (PG)</a:t>
            </a:r>
          </a:p>
        </p:txBody>
      </p:sp>
      <p:sp>
        <p:nvSpPr>
          <p:cNvPr id="25" name="Right Arrow 24"/>
          <p:cNvSpPr/>
          <p:nvPr/>
        </p:nvSpPr>
        <p:spPr>
          <a:xfrm>
            <a:off x="9122511" y="1847088"/>
            <a:ext cx="118872" cy="182880"/>
          </a:xfrm>
          <a:prstGeom prst="rightArrow">
            <a:avLst/>
          </a:prstGeom>
          <a:solidFill>
            <a:srgbClr val="6B72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9250527" y="1554480"/>
            <a:ext cx="1920240" cy="7772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9250527" y="1554480"/>
            <a:ext cx="1920240" cy="91440"/>
          </a:xfrm>
          <a:prstGeom prst="rect">
            <a:avLst/>
          </a:prstGeom>
          <a:solidFill>
            <a:srgbClr val="EF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9250527" y="1719072"/>
            <a:ext cx="192024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400" b="1">
                <a:solidFill>
                  <a:srgbClr val="0D2A4A"/>
                </a:solidFill>
                <a:latin typeface="Inter"/>
              </a:rPr>
              <a:t>Dashboard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50527" y="2011680"/>
            <a:ext cx="1920240" cy="38404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/evals scorecards</a:t>
            </a:r>
          </a:p>
          <a:p>
            <a:pPr algn="ctr"/>
            <a:r>
              <a:rPr sz="1000" b="0">
                <a:solidFill>
                  <a:srgbClr val="6B7280"/>
                </a:solidFill>
                <a:latin typeface="Inter"/>
              </a:rPr>
              <a:t>+ trends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283464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0D2A4A"/>
                </a:solidFill>
                <a:latin typeface="Inter"/>
              </a:rPr>
              <a:t>Side channels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3246120"/>
            <a:ext cx="182880" cy="4114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777240" y="3246120"/>
            <a:ext cx="36576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>
                <a:solidFill>
                  <a:srgbClr val="0D2A4A"/>
                </a:solidFill>
                <a:latin typeface="Inter"/>
              </a:rPr>
              <a:t>LangSmith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34840" y="3246120"/>
            <a:ext cx="73152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Datasets synced as pe-doc-intel/&lt;stage&gt;; experiments + traces.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749040"/>
            <a:ext cx="182880" cy="4114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77240" y="3749040"/>
            <a:ext cx="36576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>
                <a:solidFill>
                  <a:srgbClr val="0D2A4A"/>
                </a:solidFill>
                <a:latin typeface="Inter"/>
              </a:rPr>
              <a:t>Long-term memory → regression set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434840" y="3749040"/>
            <a:ext cx="73152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harvest-regressions reads classification_corrections / extraction_corrections.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02920" y="4251960"/>
            <a:ext cx="182880" cy="41148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777240" y="4251960"/>
            <a:ext cx="36576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200" b="1">
                <a:solidFill>
                  <a:srgbClr val="0D2A4A"/>
                </a:solidFill>
                <a:latin typeface="Inter"/>
              </a:rPr>
              <a:t>Phoenix (optional)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434840" y="4251960"/>
            <a:ext cx="731520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OTLP traces to localhost:6006 for live judge debugging.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PE Document Intelligence  ·  Evaluation Framework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3 / 16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E86DE"/>
                </a:solidFill>
                <a:latin typeface="Inter"/>
              </a:rPr>
              <a:t>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0D2A4A"/>
                </a:solidFill>
                <a:latin typeface="Inter"/>
              </a:rPr>
              <a:t>Eight surfaces, one scoring contract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8640" cy="36576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2008022" cy="518160"/>
          </a:xfrm>
          <a:prstGeom prst="rect">
            <a:avLst/>
          </a:prstGeom>
          <a:solidFill>
            <a:srgbClr val="0D2A4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2648" y="1417320"/>
            <a:ext cx="1843430" cy="518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Inter"/>
              </a:rPr>
              <a:t>Stage</a:t>
            </a:r>
          </a:p>
        </p:txBody>
      </p:sp>
      <p:sp>
        <p:nvSpPr>
          <p:cNvPr id="8" name="Rectangle 7"/>
          <p:cNvSpPr/>
          <p:nvPr/>
        </p:nvSpPr>
        <p:spPr>
          <a:xfrm>
            <a:off x="2510942" y="1417320"/>
            <a:ext cx="3346704" cy="518160"/>
          </a:xfrm>
          <a:prstGeom prst="rect">
            <a:avLst/>
          </a:prstGeom>
          <a:solidFill>
            <a:srgbClr val="0D2A4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620670" y="1417320"/>
            <a:ext cx="3182112" cy="518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Inter"/>
              </a:rPr>
              <a:t>Production callable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7646" y="1417320"/>
            <a:ext cx="5800953" cy="518160"/>
          </a:xfrm>
          <a:prstGeom prst="rect">
            <a:avLst/>
          </a:prstGeom>
          <a:solidFill>
            <a:srgbClr val="0D2A4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67374" y="1417320"/>
            <a:ext cx="5636361" cy="518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Inter"/>
              </a:rPr>
              <a:t>Why it needs evals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35480"/>
            <a:ext cx="2008022" cy="518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2648" y="1935480"/>
            <a:ext cx="1843430" cy="518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classification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510942" y="1935480"/>
            <a:ext cx="3346704" cy="518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2620670" y="1935480"/>
            <a:ext cx="3182112" cy="518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classify_document()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7646" y="1935480"/>
            <a:ext cx="5800953" cy="518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67374" y="1935480"/>
            <a:ext cx="5636361" cy="518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Wrong category → wrong extraction schema.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453640"/>
            <a:ext cx="2008022" cy="51816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2648" y="2453640"/>
            <a:ext cx="1843430" cy="518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extraction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10942" y="2453640"/>
            <a:ext cx="3346704" cy="51816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2620670" y="2453640"/>
            <a:ext cx="3182112" cy="518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extract_fields()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57646" y="2453640"/>
            <a:ext cx="5800953" cy="51816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67374" y="2453640"/>
            <a:ext cx="5636361" cy="518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Field accuracy + verbatim provenance.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71800"/>
            <a:ext cx="2008022" cy="518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2648" y="2971800"/>
            <a:ext cx="1843430" cy="518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judge (meta)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10942" y="2971800"/>
            <a:ext cx="3346704" cy="518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2620670" y="2971800"/>
            <a:ext cx="3182112" cy="518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src/graph_nodes/judge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7646" y="2971800"/>
            <a:ext cx="5800953" cy="518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67374" y="2971800"/>
            <a:ext cx="5636361" cy="518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Confidence must correlate with correctness.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489960"/>
            <a:ext cx="2008022" cy="51816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2648" y="3489960"/>
            <a:ext cx="1843430" cy="518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summarize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510942" y="3489960"/>
            <a:ext cx="3346704" cy="51816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2620670" y="3489960"/>
            <a:ext cx="3182112" cy="518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summarize_document()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57646" y="3489960"/>
            <a:ext cx="5800953" cy="51816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967374" y="3489960"/>
            <a:ext cx="5636361" cy="518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Faithfulness + PE-checklist coverage.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008120"/>
            <a:ext cx="2008022" cy="518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12648" y="4008120"/>
            <a:ext cx="1843430" cy="518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rag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510942" y="4008120"/>
            <a:ext cx="3346704" cy="518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2620670" y="4008120"/>
            <a:ext cx="3182112" cy="518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RAGService.query()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57646" y="4008120"/>
            <a:ext cx="5800953" cy="518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967374" y="4008120"/>
            <a:ext cx="5636361" cy="518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Retrieval IR metrics + answer faithfulness.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526280"/>
            <a:ext cx="2008022" cy="51816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12648" y="4526280"/>
            <a:ext cx="1843430" cy="518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agentic_rag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510942" y="4526280"/>
            <a:ext cx="3346704" cy="51816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2620670" y="4526280"/>
            <a:ext cx="3182112" cy="518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agentic_rag_query()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57646" y="4526280"/>
            <a:ext cx="5800953" cy="51816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967374" y="4526280"/>
            <a:ext cx="5636361" cy="518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Tool-call trajectory quality, not just answer.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044440"/>
            <a:ext cx="2008022" cy="518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12648" y="5044440"/>
            <a:ext cx="1843430" cy="518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sql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510942" y="5044440"/>
            <a:ext cx="3346704" cy="518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2620670" y="5044440"/>
            <a:ext cx="3182112" cy="518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run_analytics_query()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57646" y="5044440"/>
            <a:ext cx="5800953" cy="518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967374" y="5044440"/>
            <a:ext cx="5636361" cy="518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NL→SQL safety + intent + chart shape.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562600"/>
            <a:ext cx="2008022" cy="51816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12648" y="5562600"/>
            <a:ext cx="1843430" cy="518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pipeline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2510942" y="5562600"/>
            <a:ext cx="3346704" cy="51816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2620670" y="5562600"/>
            <a:ext cx="3182112" cy="518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build_pipeline().ainvoke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57646" y="5562600"/>
            <a:ext cx="5800953" cy="51816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967374" y="5562600"/>
            <a:ext cx="5636361" cy="5181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Stage reachability + review-gate firing.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" y="617220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Every evaluator returns the same shape: { key, score, comment } — that uniformity is what lets the runner aggregate, persist, and chart anything.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PE Document Intelligence  ·  Evaluation Framework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4 / 16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E86DE"/>
                </a:solidFill>
                <a:latin typeface="Inter"/>
              </a:rPr>
              <a:t>TAXONOMY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0D2A4A"/>
                </a:solidFill>
                <a:latin typeface="Inter"/>
              </a:rPr>
              <a:t>Four evaluator layers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8640" cy="36576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57784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502920" y="1417320"/>
            <a:ext cx="73152" cy="242316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731520" y="1508760"/>
            <a:ext cx="5257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0D2A4A"/>
                </a:solidFill>
                <a:latin typeface="Inter"/>
              </a:rPr>
              <a:t>Metric-based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828800"/>
            <a:ext cx="5257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Deterministic · cheap · CI-safe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48840"/>
            <a:ext cx="5257800" cy="1600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exact match, numeric tolerance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Recall@K, MRR, nDCG@K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ECE (confidence calibration)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source-text substring check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PE-checklist coverage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1417320"/>
            <a:ext cx="557784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6263640" y="1417320"/>
            <a:ext cx="73152" cy="242316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1508760"/>
            <a:ext cx="5257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0D2A4A"/>
                </a:solidFill>
                <a:latin typeface="Inter"/>
              </a:rPr>
              <a:t>LLM-as-judge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828800"/>
            <a:ext cx="5257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Pydantic-structured · single criterion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48840"/>
            <a:ext cx="5257800" cy="1600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summary + RAG faithfulness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answer / context relevance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extraction source fidelity (3-way)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judge-meta calibration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RAGAS triad (optional)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4023360"/>
            <a:ext cx="557784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502920" y="4023360"/>
            <a:ext cx="73152" cy="2423160"/>
          </a:xfrm>
          <a:prstGeom prst="rect">
            <a:avLst/>
          </a:prstGeom>
          <a:solidFill>
            <a:srgbClr val="F59E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731520" y="4114800"/>
            <a:ext cx="5257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0D2A4A"/>
                </a:solidFill>
                <a:latin typeface="Inter"/>
              </a:rPr>
              <a:t>Rubric-based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34840"/>
            <a:ext cx="5257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YAML, multi-criterion, weighted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4754880"/>
            <a:ext cx="5257800" cy="1600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extraction (4 criteria)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summary (5 criteria)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sql (5 criteria)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agent_trajectory (4 criteria)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auditable per-criterion reasoning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4023360"/>
            <a:ext cx="5577840" cy="24231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6263640" y="4023360"/>
            <a:ext cx="73152" cy="242316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4114800"/>
            <a:ext cx="5257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0D2A4A"/>
                </a:solidFill>
                <a:latin typeface="Inter"/>
              </a:rPr>
              <a:t>Trajectory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4434840"/>
            <a:ext cx="5257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Tool-call sequence quality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4754880"/>
            <a:ext cx="5257800" cy="1600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subset (required tools called)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partial-order pairs respected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no-unnecessary-calls (call budget)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tool input quality (LLM judge)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100">
                <a:solidFill>
                  <a:srgbClr val="1F2937"/>
                </a:solidFill>
                <a:latin typeface="Inter"/>
              </a:rPr>
              <a:t>•  agent trajectory rubric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PE Document Intelligence  ·  Evaluation Framework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5 / 16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E86DE"/>
                </a:solidFill>
                <a:latin typeface="Inter"/>
              </a:rPr>
              <a:t>LAYER 1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0D2A4A"/>
                </a:solidFill>
                <a:latin typeface="Inter"/>
              </a:rPr>
              <a:t>Metric-based — fast, deterministic, CI-safe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8640" cy="36576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3346704" cy="538480"/>
          </a:xfrm>
          <a:prstGeom prst="rect">
            <a:avLst/>
          </a:prstGeom>
          <a:solidFill>
            <a:srgbClr val="0D2A4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2648" y="1417320"/>
            <a:ext cx="3182112" cy="538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Inter"/>
              </a:rPr>
              <a:t>Metric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9624" y="1417320"/>
            <a:ext cx="2008022" cy="538480"/>
          </a:xfrm>
          <a:prstGeom prst="rect">
            <a:avLst/>
          </a:prstGeom>
          <a:solidFill>
            <a:srgbClr val="0D2A4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959352" y="1417320"/>
            <a:ext cx="1843430" cy="538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Inter"/>
              </a:rPr>
              <a:t>Stage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5857646" y="1417320"/>
            <a:ext cx="5800953" cy="538480"/>
          </a:xfrm>
          <a:prstGeom prst="rect">
            <a:avLst/>
          </a:prstGeom>
          <a:solidFill>
            <a:srgbClr val="0D2A4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67374" y="1417320"/>
            <a:ext cx="5636361" cy="538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Inter"/>
              </a:rPr>
              <a:t>What it scores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55800"/>
            <a:ext cx="3346704" cy="538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2648" y="1955800"/>
            <a:ext cx="3182112" cy="538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classification_accuracy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849624" y="1955800"/>
            <a:ext cx="2008022" cy="538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959352" y="1955800"/>
            <a:ext cx="1843430" cy="538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classification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857646" y="1955800"/>
            <a:ext cx="5800953" cy="538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67374" y="1955800"/>
            <a:ext cx="5636361" cy="538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Case-insensitive name match.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494280"/>
            <a:ext cx="3346704" cy="53848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2648" y="2494280"/>
            <a:ext cx="3182112" cy="538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calibration_ece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849624" y="2494280"/>
            <a:ext cx="2008022" cy="53848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959352" y="2494280"/>
            <a:ext cx="1843430" cy="538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classification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857646" y="2494280"/>
            <a:ext cx="5800953" cy="53848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67374" y="2494280"/>
            <a:ext cx="5636361" cy="538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Expected Calibration Error across confidence deciles. Lower is better.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32760"/>
            <a:ext cx="3346704" cy="538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2648" y="3032760"/>
            <a:ext cx="3182112" cy="538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extraction_exact_match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849624" y="3032760"/>
            <a:ext cx="2008022" cy="538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959352" y="3032760"/>
            <a:ext cx="1843430" cy="538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extraction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857646" y="3032760"/>
            <a:ext cx="5800953" cy="538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967374" y="3032760"/>
            <a:ext cx="5636361" cy="538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Loose-normalised match; honours expected_accepted_values + expected_empty.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571240"/>
            <a:ext cx="3346704" cy="53848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2648" y="3571240"/>
            <a:ext cx="3182112" cy="538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extraction_numeric_tolerance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849624" y="3571240"/>
            <a:ext cx="2008022" cy="53848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959352" y="3571240"/>
            <a:ext cx="1843430" cy="538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extraction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857646" y="3571240"/>
            <a:ext cx="5800953" cy="53848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967374" y="3571240"/>
            <a:ext cx="5636361" cy="538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Absolute-tolerance numeric compare for fees / rates / periods.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109720"/>
            <a:ext cx="3346704" cy="538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12648" y="4109720"/>
            <a:ext cx="3182112" cy="538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extraction_source_substring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849624" y="4109720"/>
            <a:ext cx="2008022" cy="538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959352" y="4109720"/>
            <a:ext cx="1843430" cy="538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extraction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857646" y="4109720"/>
            <a:ext cx="5800953" cy="538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5967374" y="4109720"/>
            <a:ext cx="5636361" cy="538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Predicted source_text is a substring of the doc — catches hallucinated provenance.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648200"/>
            <a:ext cx="3346704" cy="53848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12648" y="4648200"/>
            <a:ext cx="3182112" cy="538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retrieval_recall@5 / MRR / nDCG@10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849624" y="4648200"/>
            <a:ext cx="2008022" cy="53848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959352" y="4648200"/>
            <a:ext cx="1843430" cy="538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rag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57646" y="4648200"/>
            <a:ext cx="5800953" cy="53848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967374" y="4648200"/>
            <a:ext cx="5636361" cy="538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Standard IR over expected_relevant_chunk_substrings.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186680"/>
            <a:ext cx="3346704" cy="538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12648" y="5186680"/>
            <a:ext cx="3182112" cy="538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rag_answer_contains / citation_count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849624" y="5186680"/>
            <a:ext cx="2008022" cy="538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3959352" y="5186680"/>
            <a:ext cx="1843430" cy="538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rag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57646" y="5186680"/>
            <a:ext cx="5800953" cy="5384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5967374" y="5186680"/>
            <a:ext cx="5636361" cy="538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Required substrings (all_of | any_of); citation count window.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725160"/>
            <a:ext cx="3346704" cy="53848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612648" y="5725160"/>
            <a:ext cx="3182112" cy="538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summary_pe_checklist_coverage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849624" y="5725160"/>
            <a:ext cx="2008022" cy="53848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3959352" y="5725160"/>
            <a:ext cx="1843430" cy="538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summary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57646" y="5725160"/>
            <a:ext cx="5800953" cy="53848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967374" y="5725160"/>
            <a:ext cx="5636361" cy="538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Fraction of PE attributes (fund name, fee, carry, …) that appear in the summary.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02920" y="635508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All metrics here run with no API key — the same code path runs in CI and locally.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PE Document Intelligence  ·  Evaluation Framework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6 / 16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E86DE"/>
                </a:solidFill>
                <a:latin typeface="Inter"/>
              </a:rPr>
              <a:t>LAYER 2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0D2A4A"/>
                </a:solidFill>
                <a:latin typeface="Inter"/>
              </a:rPr>
              <a:t>LLM-as-judge — structured, model-graded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8640" cy="36576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3123590" cy="548640"/>
          </a:xfrm>
          <a:prstGeom prst="rect">
            <a:avLst/>
          </a:prstGeom>
          <a:solidFill>
            <a:srgbClr val="0D2A4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12648" y="1417320"/>
            <a:ext cx="2958998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Inter"/>
              </a:rPr>
              <a:t>Judge schema</a:t>
            </a:r>
          </a:p>
        </p:txBody>
      </p:sp>
      <p:sp>
        <p:nvSpPr>
          <p:cNvPr id="8" name="Rectangle 7"/>
          <p:cNvSpPr/>
          <p:nvPr/>
        </p:nvSpPr>
        <p:spPr>
          <a:xfrm>
            <a:off x="3626510" y="1417320"/>
            <a:ext cx="3569817" cy="548640"/>
          </a:xfrm>
          <a:prstGeom prst="rect">
            <a:avLst/>
          </a:prstGeom>
          <a:solidFill>
            <a:srgbClr val="0D2A4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736238" y="1417320"/>
            <a:ext cx="3405225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Inter"/>
              </a:rPr>
              <a:t>Returns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96328" y="1417320"/>
            <a:ext cx="4462272" cy="548640"/>
          </a:xfrm>
          <a:prstGeom prst="rect">
            <a:avLst/>
          </a:prstGeom>
          <a:solidFill>
            <a:srgbClr val="0D2A4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7306056" y="1417320"/>
            <a:ext cx="429768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Inter"/>
              </a:rPr>
              <a:t>Used for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312359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12648" y="1965960"/>
            <a:ext cx="2958998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FaithfulnessJudgement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26510" y="1965960"/>
            <a:ext cx="356981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36238" y="1965960"/>
            <a:ext cx="3405225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faithful · score · unsupported_claims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96328" y="1965960"/>
            <a:ext cx="446227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7306056" y="1965960"/>
            <a:ext cx="429768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summary_faithfulness, rag_answer_faithfulness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514600"/>
            <a:ext cx="3123590" cy="54864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12648" y="2514600"/>
            <a:ext cx="2958998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AnswerRelevanceJudgement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26510" y="2514600"/>
            <a:ext cx="3569817" cy="54864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3736238" y="2514600"/>
            <a:ext cx="3405225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on_topic · score · reasoning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196328" y="2514600"/>
            <a:ext cx="4462272" cy="54864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306056" y="2514600"/>
            <a:ext cx="429768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rag_answer_relevance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63240"/>
            <a:ext cx="312359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2648" y="3063240"/>
            <a:ext cx="2958998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ContextRelevanceJudgement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626510" y="3063240"/>
            <a:ext cx="356981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3736238" y="3063240"/>
            <a:ext cx="3405225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per_chunk_scores · mean</a:t>
            </a:r>
          </a:p>
        </p:txBody>
      </p:sp>
      <p:sp>
        <p:nvSpPr>
          <p:cNvPr id="28" name="Rectangle 27"/>
          <p:cNvSpPr/>
          <p:nvPr/>
        </p:nvSpPr>
        <p:spPr>
          <a:xfrm>
            <a:off x="7196328" y="3063240"/>
            <a:ext cx="446227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7306056" y="3063240"/>
            <a:ext cx="429768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rag_context_relevance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3611880"/>
            <a:ext cx="3123590" cy="54864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12648" y="3611880"/>
            <a:ext cx="2958998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BinaryJudgement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626510" y="3611880"/>
            <a:ext cx="3569817" cy="54864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3736238" y="3611880"/>
            <a:ext cx="3405225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passed · score · reasoning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7196328" y="3611880"/>
            <a:ext cx="4462272" cy="54864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7306056" y="3611880"/>
            <a:ext cx="429768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extraction_source_fidelity, sql_intent_match, tool_input_quality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160520"/>
            <a:ext cx="312359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12648" y="4160520"/>
            <a:ext cx="2958998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JudgeMetaJudgement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626510" y="4160520"/>
            <a:ext cx="3569817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3736238" y="4160520"/>
            <a:ext cx="3405225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calibrated · score · reasoning</a:t>
            </a:r>
          </a:p>
        </p:txBody>
      </p:sp>
      <p:sp>
        <p:nvSpPr>
          <p:cNvPr id="40" name="Rectangle 39"/>
          <p:cNvSpPr/>
          <p:nvPr/>
        </p:nvSpPr>
        <p:spPr>
          <a:xfrm>
            <a:off x="7196328" y="4160520"/>
            <a:ext cx="4462272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7306056" y="4160520"/>
            <a:ext cx="429768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judge_meta_calibration (grades the production Judge)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709160"/>
            <a:ext cx="3123590" cy="54864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612648" y="4709160"/>
            <a:ext cx="2958998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RAGAS triad (optional)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626510" y="4709160"/>
            <a:ext cx="3569817" cy="54864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3736238" y="4709160"/>
            <a:ext cx="3405225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faithfulness + relevancy + precision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196328" y="4709160"/>
            <a:ext cx="4462272" cy="54864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7306056" y="4709160"/>
            <a:ext cx="4297680" cy="54864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050" b="0">
                <a:solidFill>
                  <a:srgbClr val="1F2937"/>
                </a:solidFill>
                <a:latin typeface="Inter"/>
              </a:rPr>
              <a:t>ragas_triad — composite RAG score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440680"/>
            <a:ext cx="11155680" cy="91440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685800" y="5532120"/>
            <a:ext cx="107899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200" b="1">
                <a:solidFill>
                  <a:srgbClr val="0D2A4A"/>
                </a:solidFill>
                <a:latin typeface="Inter"/>
              </a:rPr>
              <a:t>Judge model selection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85800" y="5852160"/>
            <a:ext cx="10789920" cy="5029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Default: one tier above production (gpt-5.2 → gpt-5.3, gpt-5.1 → gpt-5.2). Override via EVAL_JUDGE_MODEL. Temperature pinned to 0.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PE Document Intelligence  ·  Evaluation Framework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7 / 16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E86DE"/>
                </a:solidFill>
                <a:latin typeface="Inter"/>
              </a:rPr>
              <a:t>LAYER 3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0D2A4A"/>
                </a:solidFill>
                <a:latin typeface="Inter"/>
              </a:rPr>
              <a:t>Rubrics — multi-criterion, YAML-defined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8640" cy="36576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5943600" cy="310896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6692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>
                <a:solidFill>
                  <a:srgbClr val="1F2937"/>
                </a:solidFill>
                <a:latin typeface="Menlo"/>
              </a:rPr>
              <a:t>name: extraction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1F2937"/>
                </a:solidFill>
                <a:latin typeface="Menlo"/>
              </a:rPr>
              <a:t>scale: [1, 5]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1F2937"/>
                </a:solidFill>
                <a:latin typeface="Menlo"/>
              </a:rPr>
              <a:t>criteria: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1F2937"/>
                </a:solidFill>
                <a:latin typeface="Menlo"/>
              </a:rPr>
              <a:t>  - id: verbatim_quote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1F2937"/>
                </a:solidFill>
                <a:latin typeface="Menlo"/>
              </a:rPr>
              <a:t>    weight: 0.35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1F2937"/>
                </a:solidFill>
                <a:latin typeface="Menlo"/>
              </a:rPr>
              <a:t>    anchors: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1F2937"/>
                </a:solidFill>
                <a:latin typeface="Menlo"/>
              </a:rPr>
              <a:t>      "1": "Source text is fabricated."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1F2937"/>
                </a:solidFill>
                <a:latin typeface="Menlo"/>
              </a:rPr>
              <a:t>      "5": "Exact verbatim quote with context."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1F2937"/>
                </a:solidFill>
                <a:latin typeface="Menlo"/>
              </a:rPr>
              <a:t>  - id: value_format        { weight: 0.25 }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1F2937"/>
                </a:solidFill>
                <a:latin typeface="Menlo"/>
              </a:rPr>
              <a:t>  - id: unit_correctness    { weight: 0.20 }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1F2937"/>
                </a:solidFill>
                <a:latin typeface="Menlo"/>
              </a:rPr>
              <a:t>  - id: completeness        { weight: 0.20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1417320"/>
            <a:ext cx="50292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0D2A4A"/>
                </a:solidFill>
                <a:latin typeface="Inter"/>
              </a:rPr>
              <a:t>Aggregation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1828800"/>
            <a:ext cx="5029200" cy="2743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Single judge call returns scores per criterion.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Weighted sum, normalised to [0, 1].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Raw composite kept on the rubric scale (1..5).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Missing criterion → floor; out-of-range → clipped.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Per-criterion reasoning preserved for auditing.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75488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0D2A4A"/>
                </a:solidFill>
                <a:latin typeface="Inter"/>
              </a:rPr>
              <a:t>Shipped rubrics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166360"/>
            <a:ext cx="2454249" cy="256032"/>
          </a:xfrm>
          <a:prstGeom prst="rect">
            <a:avLst/>
          </a:prstGeom>
          <a:solidFill>
            <a:srgbClr val="0D2A4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2957169" y="5166360"/>
            <a:ext cx="8701430" cy="256032"/>
          </a:xfrm>
          <a:prstGeom prst="rect">
            <a:avLst/>
          </a:prstGeom>
          <a:solidFill>
            <a:srgbClr val="0D2A4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5166360"/>
            <a:ext cx="2271369" cy="2560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Rubric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94329" y="5166360"/>
            <a:ext cx="8518550" cy="2560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Top-weighted criteria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5422392"/>
            <a:ext cx="2454249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2957169" y="5422392"/>
            <a:ext cx="870143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5422392"/>
            <a:ext cx="2271369" cy="2560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0D2A4A"/>
                </a:solidFill>
                <a:latin typeface="Inter"/>
              </a:rPr>
              <a:t>extraction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94329" y="5422392"/>
            <a:ext cx="8518550" cy="2560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verbatim_quote 0.35 · value_format 0.25 · unit_correctness 0.20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5678424"/>
            <a:ext cx="2454249" cy="256032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2957169" y="5678424"/>
            <a:ext cx="8701430" cy="256032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5678424"/>
            <a:ext cx="2271369" cy="2560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0D2A4A"/>
                </a:solidFill>
                <a:latin typeface="Inter"/>
              </a:rPr>
              <a:t>summary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94329" y="5678424"/>
            <a:ext cx="8518550" cy="2560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pe_attribute_coverage 0.35 · faithfulness 0.35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5934456"/>
            <a:ext cx="2454249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2957169" y="5934456"/>
            <a:ext cx="8701430" cy="256032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5934456"/>
            <a:ext cx="2271369" cy="2560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0D2A4A"/>
                </a:solidFill>
                <a:latin typeface="Inter"/>
              </a:rPr>
              <a:t>sql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94329" y="5934456"/>
            <a:ext cx="8518550" cy="2560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sql_intent_match 0.35 · chart_axes_sensible 0.20 · chart_type_appropriate 0.20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6190488"/>
            <a:ext cx="2454249" cy="256032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2957169" y="6190488"/>
            <a:ext cx="8701430" cy="256032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6190488"/>
            <a:ext cx="2271369" cy="2560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0D2A4A"/>
                </a:solidFill>
                <a:latin typeface="Inter"/>
              </a:rPr>
              <a:t>agent_trajectory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94329" y="6190488"/>
            <a:ext cx="8518550" cy="256032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tool_selection 0.30 · query_reformulation_quality 0.25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PE Document Intelligence  ·  Evaluation Framework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8 / 16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E86DE"/>
                </a:solidFill>
                <a:latin typeface="Inter"/>
              </a:rPr>
              <a:t>LAYER 4 OF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0D2A4A"/>
                </a:solidFill>
                <a:latin typeface="Inter"/>
              </a:rPr>
              <a:t>Trajectory — agentic RAG tool-call grading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8640" cy="36576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56692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0D2A4A"/>
                </a:solidFill>
                <a:latin typeface="Inter"/>
              </a:rPr>
              <a:t>Production trajectory shape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5669280" cy="237744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40080" y="1920240"/>
            <a:ext cx="539496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000">
                <a:solidFill>
                  <a:srgbClr val="1F2937"/>
                </a:solidFill>
                <a:latin typeface="Menlo"/>
              </a:rPr>
              <a:t>{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1F2937"/>
                </a:solidFill>
                <a:latin typeface="Menlo"/>
              </a:rPr>
              <a:t>  "answer": "...",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1F2937"/>
                </a:solidFill>
                <a:latin typeface="Menlo"/>
              </a:rPr>
              <a:t>  "trajectory": [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1F2937"/>
                </a:solidFill>
                <a:latin typeface="Menlo"/>
              </a:rPr>
              <a:t>    {"type": "tool_call",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1F2937"/>
                </a:solidFill>
                <a:latin typeface="Menlo"/>
              </a:rPr>
              <a:t>     "name": "search_documents", "args": {...}},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1F2937"/>
                </a:solidFill>
                <a:latin typeface="Menlo"/>
              </a:rPr>
              <a:t>    {"type": "tool_result", ...},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1F2937"/>
                </a:solidFill>
                <a:latin typeface="Menlo"/>
              </a:rPr>
              <a:t>    {"type": "tool_call",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1F2937"/>
                </a:solidFill>
                <a:latin typeface="Menlo"/>
              </a:rPr>
              <a:t>     "name": "lookup_extractions", ...}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1F2937"/>
                </a:solidFill>
                <a:latin typeface="Menlo"/>
              </a:rPr>
              <a:t>  ]</a:t>
            </a:r>
          </a:p>
          <a:p>
            <a:pPr>
              <a:lnSpc>
                <a:spcPct val="115000"/>
              </a:lnSpc>
            </a:pPr>
            <a:r>
              <a:rPr sz="1000">
                <a:solidFill>
                  <a:srgbClr val="1F2937"/>
                </a:solidFill>
                <a:latin typeface="Menlo"/>
              </a:rPr>
              <a:t>}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1417320"/>
            <a:ext cx="52120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0D2A4A"/>
                </a:solidFill>
                <a:latin typeface="Inter"/>
              </a:rPr>
              <a:t>Evaluators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46520" y="1828800"/>
            <a:ext cx="521208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trajectory_subset — required tools called.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trajectory_order — partial-order pairs respected.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no_unnecessary_calls — call-budget penalty.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tool_input_quality — LLM-graded args.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rubric_agent_trajectory — composite.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4434840"/>
            <a:ext cx="11155680" cy="178308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4526280"/>
            <a:ext cx="107899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0D2A4A"/>
                </a:solidFill>
                <a:latin typeface="Inter"/>
              </a:rPr>
              <a:t>Why grade trajectory, not just the answer?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4892040"/>
            <a:ext cx="1078992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Correct answer + 12 tool calls is a worse agent than correct answer + 2.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Catches cost regressions: ReAct loops invisible to answer-only metrics.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Catches reasoning regressions: wrong tool, right answer = lucky.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PE Document Intelligence  ·  Evaluation Framework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9 / 16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E86DE"/>
                </a:solidFill>
                <a:latin typeface="Inter"/>
              </a:rPr>
              <a:t>DATA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0D2A4A"/>
                </a:solidFill>
                <a:latin typeface="Inter"/>
              </a:rPr>
              <a:t>SQL safety, intent, and execution-match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8640" cy="36576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0D2A4A"/>
                </a:solidFill>
                <a:latin typeface="Inter"/>
              </a:rPr>
              <a:t>AST-based safety (sqlglot) — not regex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74519"/>
            <a:ext cx="3346704" cy="487680"/>
          </a:xfrm>
          <a:prstGeom prst="rect">
            <a:avLst/>
          </a:prstGeom>
          <a:solidFill>
            <a:srgbClr val="0D2A4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3849624" y="1874519"/>
            <a:ext cx="7808976" cy="487680"/>
          </a:xfrm>
          <a:prstGeom prst="rect">
            <a:avLst/>
          </a:prstGeom>
          <a:solidFill>
            <a:srgbClr val="0D2A4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40080" y="1874519"/>
            <a:ext cx="3163824" cy="487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Evaluator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86784" y="1874519"/>
            <a:ext cx="7626096" cy="487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What it does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362199"/>
            <a:ext cx="3346704" cy="487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849624" y="2362199"/>
            <a:ext cx="7808976" cy="487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0080" y="2362199"/>
            <a:ext cx="3163824" cy="487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0D2A4A"/>
                </a:solidFill>
                <a:latin typeface="Inter"/>
              </a:rPr>
              <a:t>sql_validity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86784" y="2362199"/>
            <a:ext cx="7626096" cy="487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Single, parseable Postgres statement.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849879"/>
            <a:ext cx="3346704" cy="48768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849624" y="2849879"/>
            <a:ext cx="7808976" cy="48768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40080" y="2849879"/>
            <a:ext cx="3163824" cy="487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0D2A4A"/>
                </a:solidFill>
                <a:latin typeface="Inter"/>
              </a:rPr>
              <a:t>sql_safety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986784" y="2849879"/>
            <a:ext cx="7626096" cy="487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Walks AST; rejects Insert/Update/Delete/Drop/Create/Alter/Truncate/Merge/Grant/Revoke.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337559"/>
            <a:ext cx="3346704" cy="487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3849624" y="3337559"/>
            <a:ext cx="7808976" cy="487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40080" y="3337559"/>
            <a:ext cx="3163824" cy="487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0D2A4A"/>
                </a:solidFill>
                <a:latin typeface="Inter"/>
              </a:rPr>
              <a:t>sql_rejected_as_expected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986784" y="3337559"/>
            <a:ext cx="7626096" cy="487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For negative cases — confirms refusal (empty SQL + non-empty error/explanation).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2920" y="3825239"/>
            <a:ext cx="3346704" cy="48768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849624" y="3825239"/>
            <a:ext cx="7808976" cy="48768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3825239"/>
            <a:ext cx="3163824" cy="487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0D2A4A"/>
                </a:solidFill>
                <a:latin typeface="Inter"/>
              </a:rPr>
              <a:t>sql_contains_keywords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986784" y="3825239"/>
            <a:ext cx="7626096" cy="487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Soft signal: required keywords present in generated SQL.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4312919"/>
            <a:ext cx="3346704" cy="487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3849624" y="4312919"/>
            <a:ext cx="7808976" cy="487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40080" y="4312919"/>
            <a:ext cx="3163824" cy="487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0D2A4A"/>
                </a:solidFill>
                <a:latin typeface="Inter"/>
              </a:rPr>
              <a:t>chart_shape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986784" y="4312919"/>
            <a:ext cx="7626096" cy="487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Predicted chart_type ∈ expected_accepted_chart_types.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02920" y="4800599"/>
            <a:ext cx="3346704" cy="48768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849624" y="4800599"/>
            <a:ext cx="7808976" cy="48768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0080" y="4800599"/>
            <a:ext cx="3163824" cy="487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0D2A4A"/>
                </a:solidFill>
                <a:latin typeface="Inter"/>
              </a:rPr>
              <a:t>sql_exec_match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986784" y="4800599"/>
            <a:ext cx="7626096" cy="487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Executes both reference + predicted SQL inside a rolled-back transaction; row-set equality with Jaccard fallback.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02920" y="5288279"/>
            <a:ext cx="3346704" cy="487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3849624" y="5288279"/>
            <a:ext cx="7808976" cy="48768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40080" y="5288279"/>
            <a:ext cx="3163824" cy="487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0D2A4A"/>
                </a:solidFill>
                <a:latin typeface="Inter"/>
              </a:rPr>
              <a:t>sql_intent_match (judge)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986784" y="5288279"/>
            <a:ext cx="7626096" cy="487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Would the SQL, if executed, answer the user's question?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5775959"/>
            <a:ext cx="3346704" cy="48768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849624" y="5775959"/>
            <a:ext cx="7808976" cy="48768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640080" y="5775959"/>
            <a:ext cx="3163824" cy="487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0D2A4A"/>
                </a:solidFill>
                <a:latin typeface="Inter"/>
              </a:rPr>
              <a:t>rubric_sql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986784" y="5775959"/>
            <a:ext cx="7626096" cy="4876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5-criterion composite — intent · parsimony · chart type · axes · explanation.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2920" y="6355080"/>
            <a:ext cx="109728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Inter"/>
              </a:rPr>
              <a:t>Execution-match wraps everything in a transaction that always rolls back — read-only by construction.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PE Document Intelligence  ·  Evaluation Framework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10 / 16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E86DE"/>
                </a:solidFill>
                <a:latin typeface="Inter"/>
              </a:rPr>
              <a:t>DATASETS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0D2A4A"/>
                </a:solidFill>
                <a:latin typeface="Inter"/>
              </a:rPr>
              <a:t>Golden datasets + regression harvest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8640" cy="36576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3749039" cy="384048"/>
          </a:xfrm>
          <a:prstGeom prst="rect">
            <a:avLst/>
          </a:prstGeom>
          <a:solidFill>
            <a:srgbClr val="0D2A4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94360" y="1417320"/>
            <a:ext cx="3584447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File</a:t>
            </a:r>
          </a:p>
        </p:txBody>
      </p:sp>
      <p:sp>
        <p:nvSpPr>
          <p:cNvPr id="8" name="Rectangle 7"/>
          <p:cNvSpPr/>
          <p:nvPr/>
        </p:nvSpPr>
        <p:spPr>
          <a:xfrm>
            <a:off x="4251960" y="1417320"/>
            <a:ext cx="1188720" cy="384048"/>
          </a:xfrm>
          <a:prstGeom prst="rect">
            <a:avLst/>
          </a:prstGeom>
          <a:solidFill>
            <a:srgbClr val="0D2A4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43400" y="1417320"/>
            <a:ext cx="1024128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Examples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40680" y="1417320"/>
            <a:ext cx="1188720" cy="384048"/>
          </a:xfrm>
          <a:prstGeom prst="rect">
            <a:avLst/>
          </a:prstGeom>
          <a:solidFill>
            <a:srgbClr val="0D2A4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532120" y="1417320"/>
            <a:ext cx="1024128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1">
                <a:solidFill>
                  <a:srgbClr val="FFFFFF"/>
                </a:solidFill>
                <a:latin typeface="Inter"/>
              </a:rPr>
              <a:t>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5029200" cy="384048"/>
          </a:xfrm>
          <a:prstGeom prst="rect">
            <a:avLst/>
          </a:prstGeom>
          <a:solidFill>
            <a:srgbClr val="0D2A4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720840" y="1417320"/>
            <a:ext cx="4864608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Purpose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1801368"/>
            <a:ext cx="3749039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94360" y="1801368"/>
            <a:ext cx="3584447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classification_golden.jsonl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51960" y="1801368"/>
            <a:ext cx="1188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343400" y="1801368"/>
            <a:ext cx="1024128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Inter"/>
              </a:rPr>
              <a:t>10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440680" y="1801368"/>
            <a:ext cx="1188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532120" y="1801368"/>
            <a:ext cx="1024128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Inter"/>
              </a:rPr>
              <a:t>50–100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1801368"/>
            <a:ext cx="50292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720840" y="1801368"/>
            <a:ext cx="4864608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Category + calibration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185416"/>
            <a:ext cx="3749039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94360" y="2185416"/>
            <a:ext cx="3584447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extraction_golden.jsonl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60" y="2185416"/>
            <a:ext cx="1188720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343400" y="2185416"/>
            <a:ext cx="1024128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Inter"/>
              </a:rPr>
              <a:t>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40680" y="2185416"/>
            <a:ext cx="1188720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532120" y="2185416"/>
            <a:ext cx="1024128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Inter"/>
              </a:rPr>
              <a:t>30–50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2185416"/>
            <a:ext cx="5029200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6720840" y="2185416"/>
            <a:ext cx="4864608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8 LPA fields + verbatim source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2569464"/>
            <a:ext cx="3749039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94360" y="2569464"/>
            <a:ext cx="3584447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summary_golden.jsonl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251960" y="2569464"/>
            <a:ext cx="1188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4343400" y="2569464"/>
            <a:ext cx="1024128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Inter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40680" y="2569464"/>
            <a:ext cx="1188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TextBox 34"/>
          <p:cNvSpPr txBox="1"/>
          <p:nvPr/>
        </p:nvSpPr>
        <p:spPr>
          <a:xfrm>
            <a:off x="5532120" y="2569464"/>
            <a:ext cx="1024128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Inter"/>
              </a:rPr>
              <a:t>30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2569464"/>
            <a:ext cx="50292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720840" y="2569464"/>
            <a:ext cx="4864608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Reference summary + PE checklist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02920" y="2953512"/>
            <a:ext cx="3749039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94360" y="2953512"/>
            <a:ext cx="3584447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rag_golden.jsonl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251960" y="2953512"/>
            <a:ext cx="1188720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343400" y="2953512"/>
            <a:ext cx="1024128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Inter"/>
              </a:rPr>
              <a:t>10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440680" y="2953512"/>
            <a:ext cx="1188720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3" name="TextBox 42"/>
          <p:cNvSpPr txBox="1"/>
          <p:nvPr/>
        </p:nvSpPr>
        <p:spPr>
          <a:xfrm>
            <a:off x="5532120" y="2953512"/>
            <a:ext cx="1024128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Inter"/>
              </a:rPr>
              <a:t>100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629400" y="2953512"/>
            <a:ext cx="5029200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TextBox 44"/>
          <p:cNvSpPr txBox="1"/>
          <p:nvPr/>
        </p:nvSpPr>
        <p:spPr>
          <a:xfrm>
            <a:off x="6720840" y="2953512"/>
            <a:ext cx="4864608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Q&amp;A + labelled relevant chunks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337560"/>
            <a:ext cx="3749039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594360" y="3337560"/>
            <a:ext cx="3584447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sql_golden.jsonl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251960" y="3337560"/>
            <a:ext cx="1188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4343400" y="3337560"/>
            <a:ext cx="1024128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Inter"/>
              </a:rPr>
              <a:t>9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40680" y="3337560"/>
            <a:ext cx="1188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532120" y="3337560"/>
            <a:ext cx="1024128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Inter"/>
              </a:rPr>
              <a:t>60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629400" y="3337560"/>
            <a:ext cx="50292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6720840" y="3337560"/>
            <a:ext cx="4864608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NL→SQL + expected row-sets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3721608"/>
            <a:ext cx="3749039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594360" y="3721608"/>
            <a:ext cx="3584447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pipeline_golden.jsonl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251960" y="3721608"/>
            <a:ext cx="1188720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TextBox 56"/>
          <p:cNvSpPr txBox="1"/>
          <p:nvPr/>
        </p:nvSpPr>
        <p:spPr>
          <a:xfrm>
            <a:off x="4343400" y="3721608"/>
            <a:ext cx="1024128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Inter"/>
              </a:rPr>
              <a:t>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440680" y="3721608"/>
            <a:ext cx="1188720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532120" y="3721608"/>
            <a:ext cx="1024128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Inter"/>
              </a:rPr>
              <a:t>10</a:t>
            </a:r>
          </a:p>
        </p:txBody>
      </p:sp>
      <p:sp>
        <p:nvSpPr>
          <p:cNvPr id="60" name="Rectangle 59"/>
          <p:cNvSpPr/>
          <p:nvPr/>
        </p:nvSpPr>
        <p:spPr>
          <a:xfrm>
            <a:off x="6629400" y="3721608"/>
            <a:ext cx="5029200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TextBox 60"/>
          <p:cNvSpPr txBox="1"/>
          <p:nvPr/>
        </p:nvSpPr>
        <p:spPr>
          <a:xfrm>
            <a:off x="6720840" y="3721608"/>
            <a:ext cx="4864608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Full-pipeline gating correctness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4105656"/>
            <a:ext cx="3749039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3" name="TextBox 62"/>
          <p:cNvSpPr txBox="1"/>
          <p:nvPr/>
        </p:nvSpPr>
        <p:spPr>
          <a:xfrm>
            <a:off x="594360" y="4105656"/>
            <a:ext cx="3584447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regression_corrections.jsonl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251960" y="4105656"/>
            <a:ext cx="1188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4343400" y="4105656"/>
            <a:ext cx="1024128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Inter"/>
              </a:rPr>
              <a:t>auto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440680" y="4105656"/>
            <a:ext cx="118872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7" name="TextBox 66"/>
          <p:cNvSpPr txBox="1"/>
          <p:nvPr/>
        </p:nvSpPr>
        <p:spPr>
          <a:xfrm>
            <a:off x="5532120" y="4105656"/>
            <a:ext cx="1024128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Inter"/>
              </a:rPr>
              <a:t>—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629400" y="4105656"/>
            <a:ext cx="5029200" cy="384048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9" name="TextBox 68"/>
          <p:cNvSpPr txBox="1"/>
          <p:nvPr/>
        </p:nvSpPr>
        <p:spPr>
          <a:xfrm>
            <a:off x="6720840" y="4105656"/>
            <a:ext cx="4864608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Auto-harvested user corrections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02920" y="4489704"/>
            <a:ext cx="3749039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1" name="TextBox 70"/>
          <p:cNvSpPr txBox="1"/>
          <p:nvPr/>
        </p:nvSpPr>
        <p:spPr>
          <a:xfrm>
            <a:off x="594360" y="4489704"/>
            <a:ext cx="3584447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adversarial_synthetic.jsonl</a:t>
            </a:r>
          </a:p>
        </p:txBody>
      </p:sp>
      <p:sp>
        <p:nvSpPr>
          <p:cNvPr id="72" name="Rectangle 71"/>
          <p:cNvSpPr/>
          <p:nvPr/>
        </p:nvSpPr>
        <p:spPr>
          <a:xfrm>
            <a:off x="4251960" y="4489704"/>
            <a:ext cx="1188720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3" name="TextBox 72"/>
          <p:cNvSpPr txBox="1"/>
          <p:nvPr/>
        </p:nvSpPr>
        <p:spPr>
          <a:xfrm>
            <a:off x="4343400" y="4489704"/>
            <a:ext cx="1024128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Inter"/>
              </a:rPr>
              <a:t>—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440680" y="4489704"/>
            <a:ext cx="1188720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532120" y="4489704"/>
            <a:ext cx="1024128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ctr"/>
            <a:r>
              <a:rPr sz="1100" b="0">
                <a:solidFill>
                  <a:srgbClr val="1F2937"/>
                </a:solidFill>
                <a:latin typeface="Inter"/>
              </a:rPr>
              <a:t>—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629400" y="4489704"/>
            <a:ext cx="5029200" cy="384048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7" name="TextBox 76"/>
          <p:cNvSpPr txBox="1"/>
          <p:nvPr/>
        </p:nvSpPr>
        <p:spPr>
          <a:xfrm>
            <a:off x="6720840" y="4489704"/>
            <a:ext cx="4864608" cy="384048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Synthesised perturbations (planned)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02920" y="5148072"/>
            <a:ext cx="11155680" cy="118872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9" name="TextBox 78"/>
          <p:cNvSpPr txBox="1"/>
          <p:nvPr/>
        </p:nvSpPr>
        <p:spPr>
          <a:xfrm>
            <a:off x="685800" y="5239512"/>
            <a:ext cx="1078992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0D2A4A"/>
                </a:solidFill>
                <a:latin typeface="Inter"/>
              </a:rPr>
              <a:t>Closed-loop regression harvesting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85800" y="5605272"/>
            <a:ext cx="10789920" cy="68580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User correction in UI → long-term memory namespace → harvest-regressions → regression_corrections.jsonl. Next eval run replays them. New corrections become new tests automatically.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PE Document Intelligence  ·  Evaluation Framework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11 / 16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E86DE"/>
                </a:solidFill>
                <a:latin typeface="Inter"/>
              </a:rPr>
              <a:t>EXECUTION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0D2A4A"/>
                </a:solidFill>
                <a:latin typeface="Inter"/>
              </a:rPr>
              <a:t>Runner pipeline (per stage)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8640" cy="36576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1155680" cy="292608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Menlo"/>
              </a:rPr>
              <a:t>async def run_experiment(stage, dataset_file, predict, evaluators, ...):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Menlo"/>
              </a:rPr>
              <a:t>    examples = load_examples(dataset_file, subset, tags)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Menlo"/>
              </a:rPr>
              <a:t>    run_row  = await repo.create_run(stage, model, judge_model, git_sha, tags)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Menlo"/>
              </a:rPr>
              <a:t> 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Menlo"/>
              </a:rPr>
              <a:t>    for ex in examples: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Menlo"/>
              </a:rPr>
              <a:t>        prediction = await predict(ex)              # production LLM call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Menlo"/>
              </a:rPr>
              <a:t>        for key, fn in evaluators: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Menlo"/>
              </a:rPr>
              <a:t>            result = await invoke(fn, prediction, ex) # sync OR async — both ok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Menlo"/>
              </a:rPr>
              <a:t>            await repo.add_result(run_row.id, ex.id, key, result.score, ...)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Menlo"/>
              </a:rPr>
              <a:t> 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Menlo"/>
              </a:rPr>
              <a:t>    await repo.finalise_run(run_row, total, duration, summary_scores)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Menlo"/>
              </a:rPr>
              <a:t>    return { "run_id", "summary_scores", "per_example" }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57200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0D2A4A"/>
                </a:solidFill>
                <a:latin typeface="Inter"/>
              </a:rPr>
              <a:t>Failure isolation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4937760"/>
            <a:ext cx="11155680" cy="14630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DB unreachable (CI) → persistence disabled, run continues in-memory.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predict() raises → recorded as { error } prediction; evaluators score against it.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Evaluator raises → score=None + comment; other evaluators keep going.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Stamped on every row: model · judge_model · git_sha · tags · duration.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PE Document Intelligence  ·  Evaluation Framework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12 / 16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E86DE"/>
                </a:solidFill>
                <a:latin typeface="Inter"/>
              </a:rPr>
              <a:t>SCHEMA &amp;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0D2A4A"/>
                </a:solidFill>
                <a:latin typeface="Inter"/>
              </a:rPr>
              <a:t>Persistence — Alembic 004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8640" cy="36576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1155680" cy="320040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Menlo"/>
              </a:rPr>
              <a:t>eval_runs                              eval_results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Menlo"/>
              </a:rPr>
              <a:t>  id              uuid pk                id              uuid pk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Menlo"/>
              </a:rPr>
              <a:t>  stage           text                   run_id          uuid fk → eval_runs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Menlo"/>
              </a:rPr>
              <a:t>  dataset_name    text                   example_id      text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Menlo"/>
              </a:rPr>
              <a:t>  model           text                   evaluator_key   text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Menlo"/>
              </a:rPr>
              <a:t>  judge_model     text                   score           float | NULL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Menlo"/>
              </a:rPr>
              <a:t>  git_sha         text                   passed          bool  | NULL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Menlo"/>
              </a:rPr>
              <a:t>  total_examples  int                    comment         text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Menlo"/>
              </a:rPr>
              <a:t>  duration_seconds float                 prediction      jsonb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Menlo"/>
              </a:rPr>
              <a:t>  status          text  (running|...)    expected        jsonb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Menlo"/>
              </a:rPr>
              <a:t>  summary_scores  jsonb                  criteria_breakdown jsonb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Menlo"/>
              </a:rPr>
              <a:t>  tags            jsonb                  INDEX(run_id, evaluator_key)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Menlo"/>
              </a:rPr>
              <a:t>  created_at, updated_at</a:t>
            </a:r>
          </a:p>
          <a:p>
            <a:pPr>
              <a:lnSpc>
                <a:spcPct val="115000"/>
              </a:lnSpc>
            </a:pPr>
            <a:r>
              <a:rPr sz="1100">
                <a:solidFill>
                  <a:srgbClr val="1F2937"/>
                </a:solidFill>
                <a:latin typeface="Menlo"/>
              </a:rPr>
              <a:t>  INDEX(stage, created_at)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75488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0D2A4A"/>
                </a:solidFill>
                <a:latin typeface="Inter"/>
              </a:rPr>
              <a:t>REST API   (registered as /api/v1/evals/*)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5166360"/>
            <a:ext cx="3346704" cy="213360"/>
          </a:xfrm>
          <a:prstGeom prst="rect">
            <a:avLst/>
          </a:prstGeom>
          <a:solidFill>
            <a:srgbClr val="0D2A4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849624" y="5166360"/>
            <a:ext cx="7808976" cy="213360"/>
          </a:xfrm>
          <a:prstGeom prst="rect">
            <a:avLst/>
          </a:prstGeom>
          <a:solidFill>
            <a:srgbClr val="0D2A4A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640080" y="5166360"/>
            <a:ext cx="3163824" cy="2133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Method · Path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86784" y="5166360"/>
            <a:ext cx="7626096" cy="2133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Inter"/>
              </a:rPr>
              <a:t>Purpose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5379720"/>
            <a:ext cx="3346704" cy="21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3849624" y="5379720"/>
            <a:ext cx="7808976" cy="21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40080" y="5379720"/>
            <a:ext cx="3163824" cy="2133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0D2A4A"/>
                </a:solidFill>
                <a:latin typeface="Inter"/>
              </a:rPr>
              <a:t>GET /evals/overview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986784" y="5379720"/>
            <a:ext cx="7626096" cy="2133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Per-stage scorecards (last run + delta vs previous).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593080"/>
            <a:ext cx="3346704" cy="21336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849624" y="5593080"/>
            <a:ext cx="7808976" cy="21336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0080" y="5593080"/>
            <a:ext cx="3163824" cy="2133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0D2A4A"/>
                </a:solidFill>
                <a:latin typeface="Inter"/>
              </a:rPr>
              <a:t>GET /evals/runs?stage=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986784" y="5593080"/>
            <a:ext cx="7626096" cy="2133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Paginated runs, filterable by stage.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5806440"/>
            <a:ext cx="3346704" cy="21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849624" y="5806440"/>
            <a:ext cx="7808976" cy="21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0080" y="5806440"/>
            <a:ext cx="3163824" cy="2133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0D2A4A"/>
                </a:solidFill>
                <a:latin typeface="Inter"/>
              </a:rPr>
              <a:t>GET /evals/runs/{id}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86784" y="5806440"/>
            <a:ext cx="7626096" cy="2133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One run + all per-result rows.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6019800"/>
            <a:ext cx="3346704" cy="21336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849624" y="6019800"/>
            <a:ext cx="7808976" cy="213360"/>
          </a:xfrm>
          <a:prstGeom prst="rect">
            <a:avLst/>
          </a:prstGeom>
          <a:solidFill>
            <a:srgbClr val="F3F4F6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40080" y="6019800"/>
            <a:ext cx="3163824" cy="2133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0D2A4A"/>
                </a:solidFill>
                <a:latin typeface="Inter"/>
              </a:rPr>
              <a:t>POST /evals/runs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986784" y="6019800"/>
            <a:ext cx="7626096" cy="2133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Trigger a run (stage, subset?, tags?, model?). 202.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6233160"/>
            <a:ext cx="3346704" cy="21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849624" y="6233160"/>
            <a:ext cx="7808976" cy="21336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640080" y="6233160"/>
            <a:ext cx="3163824" cy="2133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0D2A4A"/>
                </a:solidFill>
                <a:latin typeface="Inter"/>
              </a:rPr>
              <a:t>GET /evals/trends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986784" y="6233160"/>
            <a:ext cx="7626096" cy="21336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1F2937"/>
                </a:solidFill>
                <a:latin typeface="Inter"/>
              </a:rPr>
              <a:t>Time-series for (stage, evaluator_key).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PE Document Intelligence  ·  Evaluation Framework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13 / 16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E86DE"/>
                </a:solidFill>
                <a:latin typeface="Inter"/>
              </a:rPr>
              <a:t>FRONTEND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0D2A4A"/>
                </a:solidFill>
                <a:latin typeface="Inter"/>
              </a:rPr>
              <a:t>Dashboard — /evals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8640" cy="36576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141732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>
                <a:solidFill>
                  <a:srgbClr val="0D2A4A"/>
                </a:solidFill>
                <a:latin typeface="Inter"/>
              </a:rPr>
              <a:t>Three pages, one source of truth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828800"/>
            <a:ext cx="370332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502920" y="1828800"/>
            <a:ext cx="3703320" cy="91440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85800" y="2011680"/>
            <a:ext cx="33375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0D2A4A"/>
                </a:solidFill>
                <a:latin typeface="Inter"/>
              </a:rPr>
              <a:t>Overview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2423160"/>
            <a:ext cx="33375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enlo"/>
              </a:rPr>
              <a:t>/evals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2834640"/>
            <a:ext cx="3337560" cy="2103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Scorecard per stage.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Primary metric + delta vs previous.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Run-now button (202 background task).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828800"/>
            <a:ext cx="370332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297680" y="1828800"/>
            <a:ext cx="3703320" cy="91440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80560" y="2011680"/>
            <a:ext cx="33375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0D2A4A"/>
                </a:solidFill>
                <a:latin typeface="Inter"/>
              </a:rPr>
              <a:t>Trends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423160"/>
            <a:ext cx="33375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enlo"/>
              </a:rPr>
              <a:t>/evals/trends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80560" y="2834640"/>
            <a:ext cx="3337560" cy="2103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Pick stage + evaluator.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Time-series of summary score.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Catches drift across model upgrades.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92440" y="1828800"/>
            <a:ext cx="3703320" cy="320040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2440" y="1828800"/>
            <a:ext cx="3703320" cy="9144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75320" y="2011680"/>
            <a:ext cx="333756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800" b="1">
                <a:solidFill>
                  <a:srgbClr val="0D2A4A"/>
                </a:solidFill>
                <a:latin typeface="Inter"/>
              </a:rPr>
              <a:t>Run detail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20" y="2423160"/>
            <a:ext cx="3337560" cy="3200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Menlo"/>
              </a:rPr>
              <a:t>/evals/runs/:id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75320" y="2834640"/>
            <a:ext cx="3337560" cy="2103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Per-example × per-evaluator table.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Trajectory viewer for agentic RAG.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Raw prediction vs expected JSON.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534924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Inter"/>
              </a:rPr>
              <a:t>Components: ScoreCard · MetricBreakdown · ResultsTable · TrajectoryViewer  (frontend/src/components/evals/)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PE Document Intelligence  ·  Evaluation Framework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14 / 16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E86DE"/>
                </a:solidFill>
                <a:latin typeface="Inter"/>
              </a:rPr>
              <a:t>HOW TO RUN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0D2A4A"/>
                </a:solidFill>
                <a:latin typeface="Inter"/>
              </a:rPr>
              <a:t>CLI cheatsheet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8640" cy="36576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11155680" cy="3291840"/>
          </a:xfrm>
          <a:prstGeom prst="rect">
            <a:avLst/>
          </a:prstGeom>
          <a:solidFill>
            <a:srgbClr val="F8FAFC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88136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dirty="0">
                <a:solidFill>
                  <a:srgbClr val="1F2937"/>
                </a:solidFill>
                <a:latin typeface="Menlo"/>
              </a:rPr>
              <a:t># What stages exist + how many golden examples each has</a:t>
            </a:r>
          </a:p>
          <a:p>
            <a:pPr>
              <a:lnSpc>
                <a:spcPct val="115000"/>
              </a:lnSpc>
            </a:pPr>
            <a:r>
              <a:rPr sz="1200" dirty="0" err="1">
                <a:solidFill>
                  <a:srgbClr val="1F2937"/>
                </a:solidFill>
                <a:latin typeface="Menlo"/>
              </a:rPr>
              <a:t>uv</a:t>
            </a:r>
            <a:r>
              <a:rPr sz="1200" dirty="0">
                <a:solidFill>
                  <a:srgbClr val="1F2937"/>
                </a:solidFill>
                <a:latin typeface="Menlo"/>
              </a:rPr>
              <a:t> run python -m </a:t>
            </a:r>
            <a:r>
              <a:rPr sz="1200" dirty="0" err="1">
                <a:solidFill>
                  <a:srgbClr val="1F2937"/>
                </a:solidFill>
                <a:latin typeface="Menlo"/>
              </a:rPr>
              <a:t>backend.evals.cli</a:t>
            </a:r>
            <a:r>
              <a:rPr sz="1200" dirty="0">
                <a:solidFill>
                  <a:srgbClr val="1F2937"/>
                </a:solidFill>
                <a:latin typeface="Menlo"/>
              </a:rPr>
              <a:t> list-stages</a:t>
            </a:r>
          </a:p>
          <a:p>
            <a:pPr>
              <a:lnSpc>
                <a:spcPct val="115000"/>
              </a:lnSpc>
            </a:pPr>
            <a:r>
              <a:rPr sz="1200" dirty="0">
                <a:solidFill>
                  <a:srgbClr val="1F2937"/>
                </a:solidFill>
                <a:latin typeface="Menlo"/>
              </a:rPr>
              <a:t> </a:t>
            </a:r>
          </a:p>
          <a:p>
            <a:pPr>
              <a:lnSpc>
                <a:spcPct val="115000"/>
              </a:lnSpc>
            </a:pPr>
            <a:r>
              <a:rPr sz="1200" dirty="0">
                <a:solidFill>
                  <a:srgbClr val="1F2937"/>
                </a:solidFill>
                <a:latin typeface="Menlo"/>
              </a:rPr>
              <a:t># Push every non-empty JSONL to </a:t>
            </a:r>
            <a:r>
              <a:rPr sz="1200" dirty="0" err="1">
                <a:solidFill>
                  <a:srgbClr val="1F2937"/>
                </a:solidFill>
                <a:latin typeface="Menlo"/>
              </a:rPr>
              <a:t>LangSmith</a:t>
            </a:r>
            <a:r>
              <a:rPr sz="1200" dirty="0">
                <a:solidFill>
                  <a:srgbClr val="1F2937"/>
                </a:solidFill>
                <a:latin typeface="Menlo"/>
              </a:rPr>
              <a:t> as pe-doc-intel/&lt;stage&gt;</a:t>
            </a:r>
          </a:p>
          <a:p>
            <a:pPr>
              <a:lnSpc>
                <a:spcPct val="115000"/>
              </a:lnSpc>
            </a:pPr>
            <a:r>
              <a:rPr sz="1200" dirty="0" err="1">
                <a:solidFill>
                  <a:srgbClr val="1F2937"/>
                </a:solidFill>
                <a:latin typeface="Menlo"/>
              </a:rPr>
              <a:t>uv</a:t>
            </a:r>
            <a:r>
              <a:rPr sz="1200" dirty="0">
                <a:solidFill>
                  <a:srgbClr val="1F2937"/>
                </a:solidFill>
                <a:latin typeface="Menlo"/>
              </a:rPr>
              <a:t> run python -m </a:t>
            </a:r>
            <a:r>
              <a:rPr sz="1200" dirty="0" err="1">
                <a:solidFill>
                  <a:srgbClr val="1F2937"/>
                </a:solidFill>
                <a:latin typeface="Menlo"/>
              </a:rPr>
              <a:t>backend.evals.cli</a:t>
            </a:r>
            <a:r>
              <a:rPr sz="1200" dirty="0">
                <a:solidFill>
                  <a:srgbClr val="1F2937"/>
                </a:solidFill>
                <a:latin typeface="Menlo"/>
              </a:rPr>
              <a:t> sync-datasets</a:t>
            </a:r>
          </a:p>
          <a:p>
            <a:pPr>
              <a:lnSpc>
                <a:spcPct val="115000"/>
              </a:lnSpc>
            </a:pPr>
            <a:r>
              <a:rPr sz="1200" dirty="0">
                <a:solidFill>
                  <a:srgbClr val="1F2937"/>
                </a:solidFill>
                <a:latin typeface="Menlo"/>
              </a:rPr>
              <a:t> </a:t>
            </a:r>
          </a:p>
          <a:p>
            <a:pPr>
              <a:lnSpc>
                <a:spcPct val="115000"/>
              </a:lnSpc>
            </a:pPr>
            <a:r>
              <a:rPr sz="1200" dirty="0">
                <a:solidFill>
                  <a:srgbClr val="1F2937"/>
                </a:solidFill>
                <a:latin typeface="Menlo"/>
              </a:rPr>
              <a:t># Pull user corrections from long-term memory into regression set</a:t>
            </a:r>
          </a:p>
          <a:p>
            <a:pPr>
              <a:lnSpc>
                <a:spcPct val="115000"/>
              </a:lnSpc>
            </a:pPr>
            <a:r>
              <a:rPr sz="1200" dirty="0" err="1">
                <a:solidFill>
                  <a:srgbClr val="1F2937"/>
                </a:solidFill>
                <a:latin typeface="Menlo"/>
              </a:rPr>
              <a:t>uv</a:t>
            </a:r>
            <a:r>
              <a:rPr sz="1200" dirty="0">
                <a:solidFill>
                  <a:srgbClr val="1F2937"/>
                </a:solidFill>
                <a:latin typeface="Menlo"/>
              </a:rPr>
              <a:t> run python -m </a:t>
            </a:r>
            <a:r>
              <a:rPr sz="1200" dirty="0" err="1">
                <a:solidFill>
                  <a:srgbClr val="1F2937"/>
                </a:solidFill>
                <a:latin typeface="Menlo"/>
              </a:rPr>
              <a:t>backend.evals.cli</a:t>
            </a:r>
            <a:r>
              <a:rPr sz="1200" dirty="0">
                <a:solidFill>
                  <a:srgbClr val="1F2937"/>
                </a:solidFill>
                <a:latin typeface="Menlo"/>
              </a:rPr>
              <a:t> harvest-regressions</a:t>
            </a:r>
          </a:p>
          <a:p>
            <a:pPr>
              <a:lnSpc>
                <a:spcPct val="115000"/>
              </a:lnSpc>
            </a:pPr>
            <a:r>
              <a:rPr sz="1200" dirty="0">
                <a:solidFill>
                  <a:srgbClr val="1F2937"/>
                </a:solidFill>
                <a:latin typeface="Menlo"/>
              </a:rPr>
              <a:t> </a:t>
            </a:r>
          </a:p>
          <a:p>
            <a:pPr>
              <a:lnSpc>
                <a:spcPct val="115000"/>
              </a:lnSpc>
            </a:pPr>
            <a:r>
              <a:rPr sz="1200" dirty="0">
                <a:solidFill>
                  <a:srgbClr val="1F2937"/>
                </a:solidFill>
                <a:latin typeface="Menlo"/>
              </a:rPr>
              <a:t># Run one stage on the first N examples</a:t>
            </a:r>
          </a:p>
          <a:p>
            <a:pPr>
              <a:lnSpc>
                <a:spcPct val="115000"/>
              </a:lnSpc>
            </a:pPr>
            <a:r>
              <a:rPr sz="1200" dirty="0" err="1">
                <a:solidFill>
                  <a:srgbClr val="1F2937"/>
                </a:solidFill>
                <a:latin typeface="Menlo"/>
              </a:rPr>
              <a:t>uv</a:t>
            </a:r>
            <a:r>
              <a:rPr sz="1200" dirty="0">
                <a:solidFill>
                  <a:srgbClr val="1F2937"/>
                </a:solidFill>
                <a:latin typeface="Menlo"/>
              </a:rPr>
              <a:t> run python -m </a:t>
            </a:r>
            <a:r>
              <a:rPr sz="1200" dirty="0" err="1">
                <a:solidFill>
                  <a:srgbClr val="1F2937"/>
                </a:solidFill>
                <a:latin typeface="Menlo"/>
              </a:rPr>
              <a:t>backend.evals.cli</a:t>
            </a:r>
            <a:r>
              <a:rPr sz="1200" dirty="0">
                <a:solidFill>
                  <a:srgbClr val="1F2937"/>
                </a:solidFill>
                <a:latin typeface="Menlo"/>
              </a:rPr>
              <a:t> run --stage extraction --subset 5</a:t>
            </a:r>
          </a:p>
          <a:p>
            <a:pPr>
              <a:lnSpc>
                <a:spcPct val="115000"/>
              </a:lnSpc>
            </a:pPr>
            <a:r>
              <a:rPr sz="1200" dirty="0">
                <a:solidFill>
                  <a:srgbClr val="1F2937"/>
                </a:solidFill>
                <a:latin typeface="Menlo"/>
              </a:rPr>
              <a:t> </a:t>
            </a:r>
          </a:p>
          <a:p>
            <a:pPr>
              <a:lnSpc>
                <a:spcPct val="115000"/>
              </a:lnSpc>
            </a:pPr>
            <a:r>
              <a:rPr sz="1200" dirty="0">
                <a:solidFill>
                  <a:srgbClr val="1F2937"/>
                </a:solidFill>
                <a:latin typeface="Menlo"/>
              </a:rPr>
              <a:t># Run one stage filtered by tags</a:t>
            </a:r>
          </a:p>
          <a:p>
            <a:pPr>
              <a:lnSpc>
                <a:spcPct val="115000"/>
              </a:lnSpc>
            </a:pPr>
            <a:r>
              <a:rPr sz="1200" dirty="0" err="1">
                <a:solidFill>
                  <a:srgbClr val="1F2937"/>
                </a:solidFill>
                <a:latin typeface="Menlo"/>
              </a:rPr>
              <a:t>uv</a:t>
            </a:r>
            <a:r>
              <a:rPr sz="1200" dirty="0">
                <a:solidFill>
                  <a:srgbClr val="1F2937"/>
                </a:solidFill>
                <a:latin typeface="Menlo"/>
              </a:rPr>
              <a:t> run python -m </a:t>
            </a:r>
            <a:r>
              <a:rPr sz="1200" dirty="0" err="1">
                <a:solidFill>
                  <a:srgbClr val="1F2937"/>
                </a:solidFill>
                <a:latin typeface="Menlo"/>
              </a:rPr>
              <a:t>backend.evals.cli</a:t>
            </a:r>
            <a:r>
              <a:rPr sz="1200" dirty="0">
                <a:solidFill>
                  <a:srgbClr val="1F2937"/>
                </a:solidFill>
                <a:latin typeface="Menlo"/>
              </a:rPr>
              <a:t> run --stage rag --tags </a:t>
            </a:r>
            <a:r>
              <a:rPr sz="1200" dirty="0" err="1">
                <a:solidFill>
                  <a:srgbClr val="1F2937"/>
                </a:solidFill>
                <a:latin typeface="Menlo"/>
              </a:rPr>
              <a:t>single_hop</a:t>
            </a:r>
            <a:r>
              <a:rPr sz="1200" dirty="0">
                <a:solidFill>
                  <a:srgbClr val="1F2937"/>
                </a:solidFill>
                <a:latin typeface="Menlo"/>
              </a:rPr>
              <a:t> numeric</a:t>
            </a:r>
          </a:p>
          <a:p>
            <a:pPr>
              <a:lnSpc>
                <a:spcPct val="115000"/>
              </a:lnSpc>
            </a:pPr>
            <a:r>
              <a:rPr sz="1200" dirty="0">
                <a:solidFill>
                  <a:srgbClr val="1F2937"/>
                </a:solidFill>
                <a:latin typeface="Menlo"/>
              </a:rPr>
              <a:t> </a:t>
            </a:r>
          </a:p>
          <a:p>
            <a:pPr>
              <a:lnSpc>
                <a:spcPct val="115000"/>
              </a:lnSpc>
            </a:pPr>
            <a:r>
              <a:rPr sz="1200" dirty="0">
                <a:solidFill>
                  <a:srgbClr val="1F2937"/>
                </a:solidFill>
                <a:latin typeface="Menlo"/>
              </a:rPr>
              <a:t># Run all stages</a:t>
            </a:r>
          </a:p>
          <a:p>
            <a:pPr>
              <a:lnSpc>
                <a:spcPct val="115000"/>
              </a:lnSpc>
            </a:pPr>
            <a:r>
              <a:rPr sz="1200" dirty="0" err="1">
                <a:solidFill>
                  <a:srgbClr val="1F2937"/>
                </a:solidFill>
                <a:latin typeface="Menlo"/>
              </a:rPr>
              <a:t>uv</a:t>
            </a:r>
            <a:r>
              <a:rPr sz="1200" dirty="0">
                <a:solidFill>
                  <a:srgbClr val="1F2937"/>
                </a:solidFill>
                <a:latin typeface="Menlo"/>
              </a:rPr>
              <a:t> run python -m </a:t>
            </a:r>
            <a:r>
              <a:rPr sz="1200" dirty="0" err="1">
                <a:solidFill>
                  <a:srgbClr val="1F2937"/>
                </a:solidFill>
                <a:latin typeface="Menlo"/>
              </a:rPr>
              <a:t>backend.evals.cli</a:t>
            </a:r>
            <a:r>
              <a:rPr sz="1200" dirty="0">
                <a:solidFill>
                  <a:srgbClr val="1F2937"/>
                </a:solidFill>
                <a:latin typeface="Menlo"/>
              </a:rPr>
              <a:t> run --stage all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84632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400" b="1" dirty="0">
                <a:solidFill>
                  <a:srgbClr val="0D2A4A"/>
                </a:solidFill>
                <a:latin typeface="Inter"/>
              </a:rPr>
              <a:t>Required env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212080"/>
            <a:ext cx="11155680" cy="12801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OPENAI_API_KEY — production model.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DATABASE_URL — for run persistence (else in-memory).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LANGSMITH_API_KEY (+ LANGCHAIN_TRACING_V2=true) — dataset sync + traces.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200">
                <a:solidFill>
                  <a:srgbClr val="1F2937"/>
                </a:solidFill>
                <a:latin typeface="Inter"/>
              </a:rPr>
              <a:t>•  EVAL_JUDGE_MODEL (optional) — override the judge tier.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PE Document Intelligence  ·  Evaluation Framework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15 / 16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D2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02920" y="274320"/>
            <a:ext cx="10972800" cy="292608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100" b="1">
                <a:solidFill>
                  <a:srgbClr val="2E86DE"/>
                </a:solidFill>
                <a:latin typeface="Inter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566928"/>
            <a:ext cx="10972800" cy="54864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2800" b="1">
                <a:solidFill>
                  <a:srgbClr val="0D2A4A"/>
                </a:solidFill>
                <a:latin typeface="Inter"/>
              </a:rPr>
              <a:t>What this gives us</a:t>
            </a:r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548640" cy="36576"/>
          </a:xfrm>
          <a:prstGeom prst="rect">
            <a:avLst/>
          </a:prstGeom>
          <a:solidFill>
            <a:srgbClr val="2E86D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502920" y="1417320"/>
            <a:ext cx="26974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02920" y="1645920"/>
            <a:ext cx="2697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3600" b="1">
                <a:solidFill>
                  <a:srgbClr val="2E86DE"/>
                </a:solidFill>
                <a:latin typeface="Inter"/>
              </a:rPr>
              <a:t>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2377440"/>
            <a:ext cx="2697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Inter"/>
              </a:rPr>
              <a:t>LLM surfaces graded</a:t>
            </a:r>
          </a:p>
        </p:txBody>
      </p:sp>
      <p:sp>
        <p:nvSpPr>
          <p:cNvPr id="9" name="Rectangle 8"/>
          <p:cNvSpPr/>
          <p:nvPr/>
        </p:nvSpPr>
        <p:spPr>
          <a:xfrm>
            <a:off x="3383280" y="1417320"/>
            <a:ext cx="26974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383280" y="1645920"/>
            <a:ext cx="2697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3600" b="1">
                <a:solidFill>
                  <a:srgbClr val="8B5CF6"/>
                </a:solidFill>
                <a:latin typeface="Inter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2377440"/>
            <a:ext cx="2697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Inter"/>
              </a:rPr>
              <a:t>Evaluator layers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1417320"/>
            <a:ext cx="26974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263640" y="1645920"/>
            <a:ext cx="2697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3600" b="1">
                <a:solidFill>
                  <a:srgbClr val="10B981"/>
                </a:solidFill>
                <a:latin typeface="Inter"/>
              </a:rPr>
              <a:t>20+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63640" y="2377440"/>
            <a:ext cx="2697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Inter"/>
              </a:rPr>
              <a:t>Built-in evaluators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1417320"/>
            <a:ext cx="2697480" cy="1417320"/>
          </a:xfrm>
          <a:prstGeom prst="rect">
            <a:avLst/>
          </a:prstGeom>
          <a:solidFill>
            <a:srgbClr val="FFFFFF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9144000" y="1645920"/>
            <a:ext cx="2697480" cy="7315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3600" b="1">
                <a:solidFill>
                  <a:srgbClr val="F59E0B"/>
                </a:solidFill>
                <a:latin typeface="Inter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2377440"/>
            <a:ext cx="269748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Inter"/>
              </a:rPr>
              <a:t>YAML rubrics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3108960"/>
            <a:ext cx="10972800" cy="36576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1500" b="1">
                <a:solidFill>
                  <a:srgbClr val="0D2A4A"/>
                </a:solidFill>
                <a:latin typeface="Inter"/>
              </a:rPr>
              <a:t>Operational benefits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3520440"/>
            <a:ext cx="11155680" cy="23774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1F2937"/>
                </a:solidFill>
                <a:latin typeface="Inter"/>
              </a:rPr>
              <a:t>•  Pre-merge gate: deterministic metrics run in CI without API keys.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1F2937"/>
                </a:solidFill>
                <a:latin typeface="Inter"/>
              </a:rPr>
              <a:t>•  Model-upgrade safety: trends per (stage, evaluator) catch regressions on day one.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1F2937"/>
                </a:solidFill>
                <a:latin typeface="Inter"/>
              </a:rPr>
              <a:t>•  Calibration trust: ECE + judge_meta surface confidence drift, not just accuracy.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1F2937"/>
                </a:solidFill>
                <a:latin typeface="Inter"/>
              </a:rPr>
              <a:t>•  Closed-loop learning: every UI correction becomes a new regression test.</a:t>
            </a:r>
          </a:p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>
                <a:solidFill>
                  <a:srgbClr val="1F2937"/>
                </a:solidFill>
                <a:latin typeface="Inter"/>
              </a:rPr>
              <a:t>•  Provenance: every score row keeps prediction + expected + reasoning for audit.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943600"/>
            <a:ext cx="11155680" cy="502920"/>
          </a:xfrm>
          <a:prstGeom prst="rect">
            <a:avLst/>
          </a:prstGeom>
          <a:solidFill>
            <a:srgbClr val="F3F4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685800" y="5989320"/>
            <a:ext cx="10789920" cy="411480"/>
          </a:xfrm>
          <a:prstGeom prst="rect">
            <a:avLst/>
          </a:prstGeom>
          <a:noFill/>
        </p:spPr>
        <p:txBody>
          <a:bodyPr wrap="square" lIns="45720" tIns="18288" rIns="45720" bIns="18288" anchor="ctr">
            <a:spAutoFit/>
          </a:bodyPr>
          <a:lstStyle/>
          <a:p>
            <a:pPr algn="l"/>
            <a:r>
              <a:rPr sz="1100" b="0">
                <a:solidFill>
                  <a:srgbClr val="0D2A4A"/>
                </a:solidFill>
                <a:latin typeface="Inter"/>
              </a:rPr>
              <a:t>Read more: docs/eval-framework.md   ·   Code: backend/evals/   ·   Tests: backend/tests/evals/   ·   Migration: alembic/versions/004_add_eval_runs.py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92240"/>
            <a:ext cx="731520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Inter"/>
              </a:rPr>
              <a:t>PE Document Intelligence  ·  Evaluation Framework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492240"/>
            <a:ext cx="1188720" cy="274320"/>
          </a:xfrm>
          <a:prstGeom prst="rect">
            <a:avLst/>
          </a:prstGeom>
          <a:noFill/>
        </p:spPr>
        <p:txBody>
          <a:bodyPr wrap="square" lIns="45720" tIns="18288" rIns="45720" bIns="18288" anchor="t">
            <a:spAutoFit/>
          </a:bodyPr>
          <a:lstStyle/>
          <a:p>
            <a:pPr algn="r"/>
            <a:r>
              <a:rPr sz="900" b="0">
                <a:solidFill>
                  <a:srgbClr val="6B7280"/>
                </a:solidFill>
                <a:latin typeface="Inter"/>
              </a:rPr>
              <a:t>16 / 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2658</Words>
  <Application>Microsoft Macintosh PowerPoint</Application>
  <PresentationFormat>Widescreen</PresentationFormat>
  <Paragraphs>417</Paragraphs>
  <Slides>16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21" baseType="lpstr">
      <vt:lpstr>Arial</vt:lpstr>
      <vt:lpstr>Calibri</vt:lpstr>
      <vt:lpstr>Inter</vt:lpstr>
      <vt:lpstr>Menlo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Chaminda Wijayasundara</cp:lastModifiedBy>
  <cp:revision>2</cp:revision>
  <dcterms:created xsi:type="dcterms:W3CDTF">2013-01-27T09:14:16Z</dcterms:created>
  <dcterms:modified xsi:type="dcterms:W3CDTF">2026-04-24T05:05:34Z</dcterms:modified>
  <cp:category/>
</cp:coreProperties>
</file>