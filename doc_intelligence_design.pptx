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5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82296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920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 Document Intelligence Platform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Architecture &amp; Design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LPA &amp; Subscription Agreement Processing  |  DeepAgents + LangGraph  |  GPT-5.4-mini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320040" cy="320040"/>
          </a:xfrm>
          <a:prstGeom prst="rect">
            <a:avLst>
              <a:gd name="adj" fmla="val 11429"/>
            </a:avLst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51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" y="1051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Overview &amp; Key Capabilities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90472"/>
            <a:ext cx="320040" cy="320040"/>
          </a:xfrm>
          <a:prstGeom prst="rect">
            <a:avLst>
              <a:gd name="adj" fmla="val 11429"/>
            </a:avLst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4904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149047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System Architecture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929384"/>
            <a:ext cx="320040" cy="320040"/>
          </a:xfrm>
          <a:prstGeom prst="rect">
            <a:avLst>
              <a:gd name="adj" fmla="val 11429"/>
            </a:avLst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92938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192938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368296"/>
            <a:ext cx="320040" cy="320040"/>
          </a:xfrm>
          <a:prstGeom prst="rect">
            <a:avLst>
              <a:gd name="adj" fmla="val 11429"/>
            </a:avLst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36829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236829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DeepAgent Orchestrator &amp; Subagents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2807208"/>
            <a:ext cx="320040" cy="320040"/>
          </a:xfrm>
          <a:prstGeom prst="rect">
            <a:avLst>
              <a:gd name="adj" fmla="val 11429"/>
            </a:avLst>
          </a:prstGeom>
          <a:solidFill>
            <a:srgbClr val="00B4D8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8072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28072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Classification, Extraction &amp; Judging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246120"/>
            <a:ext cx="320040" cy="320040"/>
          </a:xfrm>
          <a:prstGeom prst="rect">
            <a:avLst>
              <a:gd name="adj" fmla="val 11429"/>
            </a:avLst>
          </a:prstGeom>
          <a:solidFill>
            <a:srgbClr val="00B4D8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2461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5840" y="32461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Summarization &amp; RAG Retrieval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3685032"/>
            <a:ext cx="320040" cy="320040"/>
          </a:xfrm>
          <a:prstGeom prst="rect">
            <a:avLst>
              <a:gd name="adj" fmla="val 11429"/>
            </a:avLst>
          </a:prstGeom>
          <a:solidFill>
            <a:srgbClr val="00B4D8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6850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05840" y="36850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Batch Processing Pipeline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4123944"/>
            <a:ext cx="320040" cy="320040"/>
          </a:xfrm>
          <a:prstGeom prst="rect">
            <a:avLst>
              <a:gd name="adj" fmla="val 11429"/>
            </a:avLst>
          </a:prstGeom>
          <a:solidFill>
            <a:srgbClr val="00B4D8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12394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05840" y="412394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Services &amp; Reuse Patterns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846320" y="1051560"/>
            <a:ext cx="320040" cy="320040"/>
          </a:xfrm>
          <a:prstGeom prst="rect">
            <a:avLst>
              <a:gd name="adj" fmla="val 11429"/>
            </a:avLst>
          </a:prstGeom>
          <a:solidFill>
            <a:srgbClr val="0077B6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1051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03520" y="1051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Agent &amp; Analytics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846320" y="1490472"/>
            <a:ext cx="320040" cy="320040"/>
          </a:xfrm>
          <a:prstGeom prst="rect">
            <a:avLst>
              <a:gd name="adj" fmla="val 11429"/>
            </a:avLst>
          </a:prstGeom>
          <a:solidFill>
            <a:srgbClr val="0077B6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0" y="14904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303520" y="149047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Non-Blocking Audit Framework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846320" y="1929384"/>
            <a:ext cx="320040" cy="320040"/>
          </a:xfrm>
          <a:prstGeom prst="rect">
            <a:avLst>
              <a:gd name="adj" fmla="val 11429"/>
            </a:avLst>
          </a:prstGeom>
          <a:solidFill>
            <a:srgbClr val="0077B6"/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192938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303520" y="192938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DeepAgent Middleware Stack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846320" y="2368296"/>
            <a:ext cx="320040" cy="320040"/>
          </a:xfrm>
          <a:prstGeom prst="rect">
            <a:avLst>
              <a:gd name="adj" fmla="val 11429"/>
            </a:avLst>
          </a:prstGeom>
          <a:solidFill>
            <a:srgbClr val="0077B6"/>
          </a:solidFill>
          <a:ln/>
        </p:spPr>
      </p:sp>
      <p:sp>
        <p:nvSpPr>
          <p:cNvPr id="37" name="Text 35"/>
          <p:cNvSpPr/>
          <p:nvPr/>
        </p:nvSpPr>
        <p:spPr>
          <a:xfrm>
            <a:off x="4846320" y="236829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303520" y="236829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&amp; Storage Design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846320" y="2807208"/>
            <a:ext cx="320040" cy="320040"/>
          </a:xfrm>
          <a:prstGeom prst="rect">
            <a:avLst>
              <a:gd name="adj" fmla="val 11429"/>
            </a:avLst>
          </a:prstGeom>
          <a:solidFill>
            <a:srgbClr val="0077B6"/>
          </a:solidFill>
          <a:ln/>
        </p:spPr>
      </p:sp>
      <p:sp>
        <p:nvSpPr>
          <p:cNvPr id="40" name="Text 38"/>
          <p:cNvSpPr/>
          <p:nvPr/>
        </p:nvSpPr>
        <p:spPr>
          <a:xfrm>
            <a:off x="4846320" y="28072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303520" y="28072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Architecture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4846320" y="3246120"/>
            <a:ext cx="320040" cy="320040"/>
          </a:xfrm>
          <a:prstGeom prst="rect">
            <a:avLst>
              <a:gd name="adj" fmla="val 11429"/>
            </a:avLst>
          </a:prstGeom>
          <a:solidFill>
            <a:srgbClr val="0077B6"/>
          </a:solidFill>
          <a:ln/>
        </p:spPr>
      </p:sp>
      <p:sp>
        <p:nvSpPr>
          <p:cNvPr id="43" name="Text 41"/>
          <p:cNvSpPr/>
          <p:nvPr/>
        </p:nvSpPr>
        <p:spPr>
          <a:xfrm>
            <a:off x="4846320" y="32461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303520" y="32461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 &amp; Performance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4846320" y="3685032"/>
            <a:ext cx="320040" cy="320040"/>
          </a:xfrm>
          <a:prstGeom prst="rect">
            <a:avLst>
              <a:gd name="adj" fmla="val 11429"/>
            </a:avLst>
          </a:prstGeom>
          <a:solidFill>
            <a:srgbClr val="0077B6"/>
          </a:solidFill>
          <a:ln/>
        </p:spPr>
      </p:sp>
      <p:sp>
        <p:nvSpPr>
          <p:cNvPr id="46" name="Text 44"/>
          <p:cNvSpPr/>
          <p:nvPr/>
        </p:nvSpPr>
        <p:spPr>
          <a:xfrm>
            <a:off x="4846320" y="36850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303520" y="36850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Readiness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Platform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intelligence for Private Equity — automating LPA and Subscription Agreement processing through AI-powered workflows.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60604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9164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67335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Upload &amp; Parse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31520" y="21488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Multi-format ingestion via Reducto Cloud API. PDF, DOCX, XLSX, images. SHA-256 dedup.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337560" y="1508760"/>
            <a:ext cx="260604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169164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977640" y="167335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Classify &amp; Extract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3520440" y="21488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classifier (regex + LLM). Dynamic field extraction with source citations and confidence scoring.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126480" y="1508760"/>
            <a:ext cx="260604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69164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766560" y="167335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Summarize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6309360" y="21488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PE-attribute-preserving summaries. 17 key financial terms retained. Full content, no truncation.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48640" y="3200400"/>
            <a:ext cx="260604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38328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88720" y="336499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RAG Retrieval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731520" y="38404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 (BM25 + vector). Cross-encoder re-ranking. Citation-backed answers.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3337560" y="3200400"/>
            <a:ext cx="260604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0440" y="3383280"/>
            <a:ext cx="365760" cy="3657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977640" y="336499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Batch Processing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3520440" y="38404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pipeline. Concurrent processing (configurable). Checkpointed for resumability.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6126480" y="3200400"/>
            <a:ext cx="260604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3383280"/>
            <a:ext cx="365760" cy="36576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766560" y="336499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Analytics</a:t>
            </a:r>
            <a:endParaRPr lang="en-US" sz="1400" dirty="0"/>
          </a:p>
        </p:txBody>
      </p:sp>
      <p:sp>
        <p:nvSpPr>
          <p:cNvPr id="27" name="Text 19"/>
          <p:cNvSpPr/>
          <p:nvPr/>
        </p:nvSpPr>
        <p:spPr>
          <a:xfrm>
            <a:off x="6309360" y="38404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NL-to-SQL data agent. Auto chart recommendations. Real-time audit stream.</a:t>
            </a:r>
            <a:endParaRPr lang="en-US" sz="1100" dirty="0"/>
          </a:p>
        </p:txBody>
      </p:sp>
      <p:sp>
        <p:nvSpPr>
          <p:cNvPr id="28" name="Shape 20"/>
          <p:cNvSpPr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solidFill>
            <a:srgbClr val="1A1F3D"/>
          </a:solidFill>
          <a:ln/>
        </p:spPr>
      </p:sp>
      <p:sp>
        <p:nvSpPr>
          <p:cNvPr id="29" name="Text 21"/>
          <p:cNvSpPr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Modes:  Single Document (user-driven, with editing)   |   Bulk Automated (multi-threaded, no edit step)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High-Level System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2377440" cy="914400"/>
          </a:xfrm>
          <a:prstGeom prst="rect">
            <a:avLst/>
          </a:prstGeom>
          <a:solidFill>
            <a:srgbClr val="00B4D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0515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Frontend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+ TypeScript + Tailwind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063240" y="1508760"/>
            <a:ext cx="4572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914400"/>
            <a:ext cx="4937760" cy="1188720"/>
          </a:xfrm>
          <a:prstGeom prst="rect">
            <a:avLst/>
          </a:prstGeom>
          <a:solidFill>
            <a:srgbClr val="1A1F3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0" y="91440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 (Python 3.13)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 |  SSE Events  |  CORS  |  Middleware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38404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468880"/>
            <a:ext cx="3840480" cy="36576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468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DeepAgent Orchestrator (Single Doc)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" y="3017520"/>
            <a:ext cx="658368" cy="640080"/>
          </a:xfrm>
          <a:prstGeom prst="rect">
            <a:avLst/>
          </a:prstGeom>
          <a:solidFill>
            <a:srgbClr val="F0F4F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017520"/>
            <a:ext cx="658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417320" y="3017520"/>
            <a:ext cx="658368" cy="640080"/>
          </a:xfrm>
          <a:prstGeom prst="rect">
            <a:avLst/>
          </a:prstGeom>
          <a:solidFill>
            <a:srgbClr val="F0F4F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17320" y="3017520"/>
            <a:ext cx="658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Extractor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148840" y="3017520"/>
            <a:ext cx="658368" cy="640080"/>
          </a:xfrm>
          <a:prstGeom prst="rect">
            <a:avLst/>
          </a:prstGeom>
          <a:solidFill>
            <a:srgbClr val="F0F4F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48840" y="3017520"/>
            <a:ext cx="658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880360" y="3017520"/>
            <a:ext cx="658368" cy="640080"/>
          </a:xfrm>
          <a:prstGeom prst="rect">
            <a:avLst/>
          </a:prstGeom>
          <a:solidFill>
            <a:srgbClr val="F0F4F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80360" y="3017520"/>
            <a:ext cx="658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Summarizer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611880" y="3017520"/>
            <a:ext cx="658368" cy="640080"/>
          </a:xfrm>
          <a:prstGeom prst="rect">
            <a:avLst/>
          </a:prstGeom>
          <a:solidFill>
            <a:srgbClr val="F0F4F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11880" y="3017520"/>
            <a:ext cx="658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754880" y="2468880"/>
            <a:ext cx="38404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2468880"/>
            <a:ext cx="3840480" cy="3657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2468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Bulk Pipeline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92040" y="3017520"/>
            <a:ext cx="548640" cy="640080"/>
          </a:xfrm>
          <a:prstGeom prst="rect">
            <a:avLst/>
          </a:prstGeom>
          <a:solidFill>
            <a:srgbClr val="F0F4F8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301752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394960" y="31546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5CF6"/>
                </a:solidFill>
              </a:rPr>
              <a:t>→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504688" y="3017520"/>
            <a:ext cx="548640" cy="640080"/>
          </a:xfrm>
          <a:prstGeom prst="rect">
            <a:avLst/>
          </a:prstGeom>
          <a:solidFill>
            <a:srgbClr val="F0F4F8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04688" y="301752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007608" y="31546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5CF6"/>
                </a:solidFill>
              </a:rPr>
              <a:t>→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117336" y="3017520"/>
            <a:ext cx="548640" cy="640080"/>
          </a:xfrm>
          <a:prstGeom prst="rect">
            <a:avLst/>
          </a:prstGeom>
          <a:solidFill>
            <a:srgbClr val="F0F4F8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17336" y="301752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620256" y="31546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5CF6"/>
                </a:solidFill>
              </a:rPr>
              <a:t>→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729984" y="3017520"/>
            <a:ext cx="548640" cy="640080"/>
          </a:xfrm>
          <a:prstGeom prst="rect">
            <a:avLst/>
          </a:prstGeom>
          <a:solidFill>
            <a:srgbClr val="F0F4F8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29984" y="301752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232904" y="31546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5CF6"/>
                </a:solidFill>
              </a:rPr>
              <a:t>→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342632" y="3017520"/>
            <a:ext cx="548640" cy="640080"/>
          </a:xfrm>
          <a:prstGeom prst="rect">
            <a:avLst/>
          </a:prstGeom>
          <a:solidFill>
            <a:srgbClr val="F0F4F8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42632" y="301752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Summ.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845552" y="31546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5CF6"/>
                </a:solidFill>
              </a:rPr>
              <a:t>→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955280" y="3017520"/>
            <a:ext cx="548640" cy="640080"/>
          </a:xfrm>
          <a:prstGeom prst="rect">
            <a:avLst/>
          </a:prstGeom>
          <a:solidFill>
            <a:srgbClr val="F0F4F8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0" y="301752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48640" y="4160520"/>
            <a:ext cx="1920240" cy="731520"/>
          </a:xfrm>
          <a:prstGeom prst="rect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548640" y="41605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Reducto API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(Document Parsing)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606040" y="4160520"/>
            <a:ext cx="1920240" cy="731520"/>
          </a:xfrm>
          <a:prstGeom prst="rect">
            <a:avLst/>
          </a:prstGeom>
          <a:solidFill>
            <a:srgbClr val="0077B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2606040" y="41605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(Metadata + State)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663440" y="4160520"/>
            <a:ext cx="1920240" cy="731520"/>
          </a:xfrm>
          <a:prstGeom prst="rect">
            <a:avLst/>
          </a:prstGeom>
          <a:solidFill>
            <a:srgbClr val="8B5CF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4663440" y="41605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Weaviate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(Vector Store)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720840" y="4160520"/>
            <a:ext cx="1920240" cy="731520"/>
          </a:xfrm>
          <a:prstGeom prst="rect">
            <a:avLst/>
          </a:prstGeom>
          <a:solidFill>
            <a:srgbClr val="1A1F3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6720840" y="41605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GPT-5.4-mini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(LLM Engine)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468880" y="2103120"/>
            <a:ext cx="0" cy="36576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675120" y="2103120"/>
            <a:ext cx="0" cy="36576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33272"/>
            <a:ext cx="384048" cy="384048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078992"/>
            <a:ext cx="237744" cy="2377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00584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3200400" y="100584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19, Vite, TypeScript, Tailwind CSS, TanStack Query, TipTap, Recharts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1481328"/>
            <a:ext cx="8046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1536192"/>
            <a:ext cx="384048" cy="384048"/>
          </a:xfrm>
          <a:prstGeom prst="ellipse">
            <a:avLst/>
          </a:prstGeom>
          <a:solidFill>
            <a:srgbClr val="0077B6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581912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97280" y="150876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3200400" y="150876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3.13, FastAPI, SQLAlchemy 2.0, asyncpg, Pydantic Settings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48640" y="1984248"/>
            <a:ext cx="8046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48640" y="2039112"/>
            <a:ext cx="384048" cy="384048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084832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97280" y="201168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Framework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3200400" y="201168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DeepAgents (LangGraph), Middleware Stack, Memory (Short + Long Term)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548640" y="2487168"/>
            <a:ext cx="8046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48640" y="2542032"/>
            <a:ext cx="384048" cy="384048"/>
          </a:xfrm>
          <a:prstGeom prst="ellipse">
            <a:avLst/>
          </a:prstGeom>
          <a:solidFill>
            <a:srgbClr val="1A1F3D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2587752"/>
            <a:ext cx="237744" cy="23774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97280" y="251460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Engine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3200400" y="251460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GPT-5.4-mini (agents), GPT-5.3-codex (analytics SQL generation)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548640" y="2990088"/>
            <a:ext cx="8046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548640" y="3044952"/>
            <a:ext cx="384048" cy="384048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3090672"/>
            <a:ext cx="237744" cy="23774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097280" y="30175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 Parsing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3200400" y="301752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Reducto Cloud API — PDF, DOCX, XLSX, images to structured Markdown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548640" y="3493008"/>
            <a:ext cx="8046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548640" y="3547872"/>
            <a:ext cx="384048" cy="384048"/>
          </a:xfrm>
          <a:prstGeom prst="ellipse">
            <a:avLst/>
          </a:prstGeom>
          <a:solidFill>
            <a:srgbClr val="0077B6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" y="3593592"/>
            <a:ext cx="237744" cy="237744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1097280" y="352044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</a:t>
            </a:r>
            <a:endParaRPr lang="en-US" sz="1300" dirty="0"/>
          </a:p>
        </p:txBody>
      </p:sp>
      <p:sp>
        <p:nvSpPr>
          <p:cNvPr id="31" name="Text 23"/>
          <p:cNvSpPr/>
          <p:nvPr/>
        </p:nvSpPr>
        <p:spPr>
          <a:xfrm>
            <a:off x="3200400" y="352044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(Docker) — 12 tables, UUID PKs, async driver</a:t>
            </a:r>
            <a:endParaRPr lang="en-US" sz="1100" dirty="0"/>
          </a:p>
        </p:txBody>
      </p:sp>
      <p:sp>
        <p:nvSpPr>
          <p:cNvPr id="32" name="Shape 24"/>
          <p:cNvSpPr/>
          <p:nvPr/>
        </p:nvSpPr>
        <p:spPr>
          <a:xfrm>
            <a:off x="548640" y="3995928"/>
            <a:ext cx="8046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3" name="Shape 25"/>
          <p:cNvSpPr/>
          <p:nvPr/>
        </p:nvSpPr>
        <p:spPr>
          <a:xfrm>
            <a:off x="548640" y="4050792"/>
            <a:ext cx="384048" cy="384048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792" y="4096512"/>
            <a:ext cx="237744" cy="237744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1097280" y="402336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Vector Store</a:t>
            </a:r>
            <a:endParaRPr lang="en-US" sz="1300" dirty="0"/>
          </a:p>
        </p:txBody>
      </p:sp>
      <p:sp>
        <p:nvSpPr>
          <p:cNvPr id="36" name="Text 27"/>
          <p:cNvSpPr/>
          <p:nvPr/>
        </p:nvSpPr>
        <p:spPr>
          <a:xfrm>
            <a:off x="3200400" y="402336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Weaviate 1.30 — text2vec-openai, hybrid BM25 + vector search</a:t>
            </a:r>
            <a:endParaRPr lang="en-US" sz="1100" dirty="0"/>
          </a:p>
        </p:txBody>
      </p:sp>
      <p:sp>
        <p:nvSpPr>
          <p:cNvPr id="37" name="Shape 28"/>
          <p:cNvSpPr/>
          <p:nvPr/>
        </p:nvSpPr>
        <p:spPr>
          <a:xfrm>
            <a:off x="548640" y="4498848"/>
            <a:ext cx="8046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8" name="Shape 29"/>
          <p:cNvSpPr/>
          <p:nvPr/>
        </p:nvSpPr>
        <p:spPr>
          <a:xfrm>
            <a:off x="548640" y="4553712"/>
            <a:ext cx="384048" cy="384048"/>
          </a:xfrm>
          <a:prstGeom prst="ellipse">
            <a:avLst/>
          </a:prstGeom>
          <a:solidFill>
            <a:srgbClr val="1A1F3D"/>
          </a:solidFill>
          <a:ln/>
        </p:spPr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792" y="4599432"/>
            <a:ext cx="237744" cy="237744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1097280" y="452628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Observability</a:t>
            </a:r>
            <a:endParaRPr lang="en-US" sz="1300" dirty="0"/>
          </a:p>
        </p:txBody>
      </p:sp>
      <p:sp>
        <p:nvSpPr>
          <p:cNvPr id="41" name="Text 31"/>
          <p:cNvSpPr/>
          <p:nvPr/>
        </p:nvSpPr>
        <p:spPr>
          <a:xfrm>
            <a:off x="3200400" y="452628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OpenTelemetry, LangSmith tracing, structured logging, SSE audit events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 Processing State Machine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document transitions through defined states. Re-classification and re-extraction allowed from any post-parse state.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1508760"/>
            <a:ext cx="1143000" cy="594360"/>
          </a:xfrm>
          <a:prstGeom prst="rect">
            <a:avLst/>
          </a:prstGeom>
          <a:solidFill>
            <a:srgbClr val="94A3B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508760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UPLOADED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554480" y="1508760"/>
            <a:ext cx="1143000" cy="594360"/>
          </a:xfrm>
          <a:prstGeom prst="rect">
            <a:avLst/>
          </a:prstGeom>
          <a:solidFill>
            <a:srgbClr val="0077B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554480" y="1508760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834640" y="1508760"/>
            <a:ext cx="1143000" cy="594360"/>
          </a:xfrm>
          <a:prstGeom prst="rect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834640" y="1508760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114800" y="1508760"/>
            <a:ext cx="1143000" cy="594360"/>
          </a:xfrm>
          <a:prstGeom prst="rect">
            <a:avLst/>
          </a:prstGeom>
          <a:solidFill>
            <a:srgbClr val="00B4D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0" y="1508760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394960" y="1508760"/>
            <a:ext cx="1143000" cy="594360"/>
          </a:xfrm>
          <a:prstGeom prst="rect">
            <a:avLst/>
          </a:prstGeom>
          <a:solidFill>
            <a:srgbClr val="8B5CF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394960" y="1508760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675120" y="1508760"/>
            <a:ext cx="1143000" cy="59436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75120" y="1508760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955280" y="1508760"/>
            <a:ext cx="1143000" cy="594360"/>
          </a:xfrm>
          <a:prstGeom prst="rect">
            <a:avLst/>
          </a:prstGeom>
          <a:solidFill>
            <a:srgbClr val="1A1F3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955280" y="1508760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INGESTED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371600" y="155448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651760" y="155448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931920" y="155448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212080" y="155448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92240" y="155448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772400" y="155448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48640" y="2468880"/>
            <a:ext cx="73152" cy="38404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24688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Dedup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651760" y="246888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re-parsing if file hash unchanged on re-upload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2971800"/>
            <a:ext cx="73152" cy="38404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29718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Validation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651760" y="297180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Transitions enforced by state_machine.py — invalid moves rejected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3474720"/>
            <a:ext cx="73152" cy="38404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34747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Re-Classification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651760" y="347472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 from any post-parse state (classified, extracted, summarized)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" y="3977640"/>
            <a:ext cx="73152" cy="38404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4" name="Text 32"/>
          <p:cNvSpPr/>
          <p:nvPr/>
        </p:nvSpPr>
        <p:spPr>
          <a:xfrm>
            <a:off x="777240" y="39776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Re-Extraction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651760" y="397764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 from any post-classify state with force=true to bypass cache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4480560"/>
            <a:ext cx="73152" cy="38404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7" name="Text 35"/>
          <p:cNvSpPr/>
          <p:nvPr/>
        </p:nvSpPr>
        <p:spPr>
          <a:xfrm>
            <a:off x="777240" y="44805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Mode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2651760" y="448056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flow: parse → classify → extract → judge → summarize → ingest (no edit step)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5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DeepAgent Orchestrator — Single Document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Singleton orchestrator built on LangGraph. Coordinates 5 specialized subagents with a full middleware stack.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8046720" cy="3291840"/>
          </a:xfrm>
          <a:prstGeom prst="rect">
            <a:avLst/>
          </a:prstGeom>
          <a:solidFill>
            <a:srgbClr val="252B5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4173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DeepAgent Orchestrator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7240" y="1965960"/>
            <a:ext cx="1417320" cy="2377440"/>
          </a:xfrm>
          <a:prstGeom prst="rect">
            <a:avLst/>
          </a:prstGeom>
          <a:solidFill>
            <a:srgbClr val="0077B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1872" y="214884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26974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Classifier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68680" y="310896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filename +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content/summary LLM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377440" y="1965960"/>
            <a:ext cx="1417320" cy="2377440"/>
          </a:xfrm>
          <a:prstGeom prst="rect">
            <a:avLst/>
          </a:prstGeom>
          <a:solidFill>
            <a:srgbClr val="00B4D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2072" y="214884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377440" y="26974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Extractor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2468880" y="310896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Pydantic model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+ source pairs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3977640" y="1965960"/>
            <a:ext cx="1417320" cy="2377440"/>
          </a:xfrm>
          <a:prstGeom prst="rect">
            <a:avLst/>
          </a:prstGeom>
          <a:solidFill>
            <a:srgbClr val="8B5CF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2272" y="214884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977640" y="26974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Judge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4069080" y="310896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Field-aware confidence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high/medium/low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577840" y="1965960"/>
            <a:ext cx="1417320" cy="2377440"/>
          </a:xfrm>
          <a:prstGeom prst="rect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2472" y="2148840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577840" y="26974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Summarizer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5669280" y="310896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PE attributes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content, no truncation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7178040" y="1965960"/>
            <a:ext cx="1417320" cy="2377440"/>
          </a:xfrm>
          <a:prstGeom prst="rect">
            <a:avLst/>
          </a:prstGeom>
          <a:solidFill>
            <a:srgbClr val="1A1F3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2672" y="2148840"/>
            <a:ext cx="457200" cy="45720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178040" y="26974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RAG Retriever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7269480" y="310896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 + rerank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citation-backed answers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548640" y="4754880"/>
            <a:ext cx="8046720" cy="32004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28" name="Text 21"/>
          <p:cNvSpPr/>
          <p:nvPr/>
        </p:nvSpPr>
        <p:spPr>
          <a:xfrm>
            <a:off x="548640" y="47548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Middleware: SubAgent  |  Summarization  |  ModelCallLimit(50)  |  ToolCallLimit(200)  |  ModelRetry(3x)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Hybrid Classification — Two-Signal Approach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38404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05840"/>
            <a:ext cx="3840480" cy="36576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05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1: File Name Heuristic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pattern matching on filenames: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LPA_* → Limited Partnership Agreement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Sub_* → Subscription Agreement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Side_Letter_* → Side Letter</a:t>
            </a: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signal only — content always takes priority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8404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005840"/>
            <a:ext cx="3840480" cy="3657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1005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2: Content/Summary LLM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37760" y="146304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Prefers document summary when available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back to full parsed content (no truncation)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PE-specific few-shot examples per category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output: ClassificationResult</a:t>
            </a: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text matching (50) → Other/Unclassified (20)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063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Confidence Scoring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520440"/>
            <a:ext cx="19202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520440"/>
            <a:ext cx="192024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611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90–100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8862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defining attributes present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651760" y="3520440"/>
            <a:ext cx="19202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651760" y="3520440"/>
            <a:ext cx="192024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8" name="Text 16"/>
          <p:cNvSpPr/>
          <p:nvPr/>
        </p:nvSpPr>
        <p:spPr>
          <a:xfrm>
            <a:off x="2651760" y="3611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70–89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743200" y="38862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attributes present, some missing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54880" y="3520440"/>
            <a:ext cx="19202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3520440"/>
            <a:ext cx="192024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3611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50–69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38862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indicators, ambiguous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858000" y="3520440"/>
            <a:ext cx="19202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58000" y="3520440"/>
            <a:ext cx="192024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0" y="3611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50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49440" y="38862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indicators, likely a guess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8640" y="4526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Default Categories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48640" y="4754880"/>
            <a:ext cx="1874520" cy="274320"/>
          </a:xfrm>
          <a:prstGeom prst="rect">
            <a:avLst/>
          </a:prstGeom>
          <a:solidFill>
            <a:srgbClr val="1A1F3D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47548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Partnership Agreement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606040" y="4754880"/>
            <a:ext cx="1874520" cy="274320"/>
          </a:xfrm>
          <a:prstGeom prst="rect">
            <a:avLst/>
          </a:prstGeom>
          <a:solidFill>
            <a:srgbClr val="1A1F3D"/>
          </a:solidFill>
          <a:ln/>
        </p:spPr>
      </p:sp>
      <p:sp>
        <p:nvSpPr>
          <p:cNvPr id="32" name="Text 30"/>
          <p:cNvSpPr/>
          <p:nvPr/>
        </p:nvSpPr>
        <p:spPr>
          <a:xfrm>
            <a:off x="2606040" y="47548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Agreement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663440" y="4754880"/>
            <a:ext cx="1874520" cy="274320"/>
          </a:xfrm>
          <a:prstGeom prst="rect">
            <a:avLst/>
          </a:prstGeom>
          <a:solidFill>
            <a:srgbClr val="1A1F3D"/>
          </a:solidFill>
          <a:ln/>
        </p:spPr>
      </p:sp>
      <p:sp>
        <p:nvSpPr>
          <p:cNvPr id="34" name="Text 32"/>
          <p:cNvSpPr/>
          <p:nvPr/>
        </p:nvSpPr>
        <p:spPr>
          <a:xfrm>
            <a:off x="4663440" y="47548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Letter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720840" y="4754880"/>
            <a:ext cx="1874520" cy="274320"/>
          </a:xfrm>
          <a:prstGeom prst="rect">
            <a:avLst/>
          </a:prstGeom>
          <a:solidFill>
            <a:srgbClr val="1A1F3D"/>
          </a:solidFill>
          <a:ln/>
        </p:spPr>
      </p:sp>
      <p:sp>
        <p:nvSpPr>
          <p:cNvPr id="36" name="Text 34"/>
          <p:cNvSpPr/>
          <p:nvPr/>
        </p:nvSpPr>
        <p:spPr>
          <a:xfrm>
            <a:off x="6720840" y="47548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Other/Unclassified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Extraction &amp; Confidence Judging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265176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554480" y="1143000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155448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16916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Extractor Subagent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10312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extraction schema from DB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dynamic Pydantic model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fields per extraction: {name} + {name}_source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value + verbatim source quote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3280" y="1005840"/>
            <a:ext cx="265176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89120" y="114300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0" name="Text 8"/>
          <p:cNvSpPr/>
          <p:nvPr/>
        </p:nvSpPr>
        <p:spPr>
          <a:xfrm>
            <a:off x="438912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520440" y="16916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Judge Subagent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66160" y="210312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LLM call for objectivity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Evaluates: source match, format validity,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completeness, source quality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Returns: high / medium / low per field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1005840"/>
            <a:ext cx="265176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223760" y="114300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722376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355080" y="16916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 Flagging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0" y="210312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confidence → requires review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+ empty value → requires review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field + empty → requires review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fallback if LLM fails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108960" y="18288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4A3B8"/>
                </a:solidFill>
              </a:rPr>
              <a:t>→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943600" y="18288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4A3B8"/>
                </a:solidFill>
              </a:rPr>
              <a:t>→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48640" y="3977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Default LPA Extraction Fields (8 seeded)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4389120"/>
            <a:ext cx="1920240" cy="27432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3891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Name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651760" y="4389120"/>
            <a:ext cx="1920240" cy="27432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24" name="Text 22"/>
          <p:cNvSpPr/>
          <p:nvPr/>
        </p:nvSpPr>
        <p:spPr>
          <a:xfrm>
            <a:off x="2651760" y="43891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Partner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54880" y="4389120"/>
            <a:ext cx="1920240" cy="27432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43891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Mgmt Fee Rate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858000" y="4389120"/>
            <a:ext cx="1920240" cy="27432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0" y="43891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Carried Interest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8640" y="4709160"/>
            <a:ext cx="1920240" cy="27432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47091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 Return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651760" y="4709160"/>
            <a:ext cx="1920240" cy="27432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32" name="Text 30"/>
          <p:cNvSpPr/>
          <p:nvPr/>
        </p:nvSpPr>
        <p:spPr>
          <a:xfrm>
            <a:off x="2651760" y="47091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Term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54880" y="4709160"/>
            <a:ext cx="1920240" cy="27432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34" name="Text 32"/>
          <p:cNvSpPr/>
          <p:nvPr/>
        </p:nvSpPr>
        <p:spPr>
          <a:xfrm>
            <a:off x="4754880" y="47091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Commitment Period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858000" y="4709160"/>
            <a:ext cx="1920240" cy="27432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6" name="Text 34"/>
          <p:cNvSpPr/>
          <p:nvPr/>
        </p:nvSpPr>
        <p:spPr>
          <a:xfrm>
            <a:off x="6858000" y="47091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Governing Law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Summarization &amp; RAG Retrieval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384048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05840"/>
            <a:ext cx="3840480" cy="4114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058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PE-Attribute-Preserving Summarizer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parsed content sent (no truncation). System prompt preserves 17 key PE attributes: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21031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Fund Name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920240" y="21031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General Partner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154680" y="21031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Limited Partners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85800" y="23774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Management Fee Rate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920240" y="23774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Carried Interest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154680" y="23774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Preferred Return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85800" y="26517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Fund Term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920240" y="26517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Commitment Period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154680" y="26517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Distribution Waterfall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85800" y="29260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Governing Law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920240" y="29260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Capital Commitment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154680" y="29260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Key Person Provisions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85800" y="32004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Clawback Provisions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920240" y="32004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Investor Reps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154680" y="32004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Fee Discounts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85800" y="34747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MFN Clauses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920240" y="34747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Co-investment Rights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31520" y="42519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SummaryResult(summary, key_topics)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1005840"/>
            <a:ext cx="384048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1005840"/>
            <a:ext cx="3840480" cy="4114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0" y="10058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Ingestion &amp; Retrieval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892040" y="1600200"/>
            <a:ext cx="73152" cy="65836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9" name="Text 27"/>
          <p:cNvSpPr/>
          <p:nvPr/>
        </p:nvSpPr>
        <p:spPr>
          <a:xfrm>
            <a:off x="5074920" y="1600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74920" y="182880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SemanticChunker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 tokens max, 100 overlap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Markdown-header-aware splitting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892040" y="2441448"/>
            <a:ext cx="73152" cy="65836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2" name="Text 30"/>
          <p:cNvSpPr/>
          <p:nvPr/>
        </p:nvSpPr>
        <p:spPr>
          <a:xfrm>
            <a:off x="5074920" y="24414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74920" y="267004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Weaviate DocumentChunks collection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text2vec-openai embeddings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Metadata: doc_id, category, chunk_index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892040" y="3282696"/>
            <a:ext cx="73152" cy="65836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5" name="Text 33"/>
          <p:cNvSpPr/>
          <p:nvPr/>
        </p:nvSpPr>
        <p:spPr>
          <a:xfrm>
            <a:off x="5074920" y="32826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074920" y="3511296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keyword + vector semantic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alpha: 0=keyword, 1=semantic, 0.5=balanced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 re-ranking (ms-marco)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92040" y="4123944"/>
            <a:ext cx="73152" cy="65836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8" name="Text 36"/>
          <p:cNvSpPr/>
          <p:nvPr/>
        </p:nvSpPr>
        <p:spPr>
          <a:xfrm>
            <a:off x="5074920" y="412394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Agent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074920" y="4352544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single doc, all docs, or by category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chunks (default 5)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Citation-backed answers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5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LangGraph Batch Processing Pipeline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StateGraph-based pipeline for concurrent multi-document processing. Reuses the same subagent functions as single-doc flow.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463040"/>
            <a:ext cx="1097280" cy="1097280"/>
          </a:xfrm>
          <a:prstGeom prst="rect">
            <a:avLst/>
          </a:prstGeom>
          <a:solidFill>
            <a:srgbClr val="0077B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50876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21488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Reducto API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371600" y="16916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554480" y="1463040"/>
            <a:ext cx="1097280" cy="1097280"/>
          </a:xfrm>
          <a:prstGeom prst="rect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554480" y="150876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554480" y="21488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 attributes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606040" y="16916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788920" y="1463040"/>
            <a:ext cx="1097280" cy="1097280"/>
          </a:xfrm>
          <a:prstGeom prst="rect">
            <a:avLst/>
          </a:prstGeom>
          <a:solidFill>
            <a:srgbClr val="00B4D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788920" y="150876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88920" y="21488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signals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840480" y="16916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023360" y="1463040"/>
            <a:ext cx="1097280" cy="1097280"/>
          </a:xfrm>
          <a:prstGeom prst="rect">
            <a:avLst/>
          </a:prstGeom>
          <a:solidFill>
            <a:srgbClr val="8B5CF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023360" y="150876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023360" y="21488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schema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074920" y="16916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257800" y="1463040"/>
            <a:ext cx="1097280" cy="109728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257800" y="150876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57800" y="21488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eval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309360" y="16916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492240" y="1463040"/>
            <a:ext cx="1097280" cy="109728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92240" y="150876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92240" y="21488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Weaviate chunks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543800" y="16916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7726680" y="1463040"/>
            <a:ext cx="1097280" cy="1097280"/>
          </a:xfrm>
          <a:prstGeom prst="rect">
            <a:avLst/>
          </a:prstGeom>
          <a:solidFill>
            <a:srgbClr val="1A1F3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726680" y="150876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726680" y="21488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update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48640" y="2788920"/>
            <a:ext cx="3931920" cy="822960"/>
          </a:xfrm>
          <a:prstGeom prst="rect">
            <a:avLst/>
          </a:prstGeom>
          <a:solidFill>
            <a:srgbClr val="252B5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971800"/>
            <a:ext cx="365760" cy="365760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1143000" y="28346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Processing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1143000" y="31546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parallelism (default 3 docs). asyncio.Semaphore controls concurrency up to 10.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754880" y="2788920"/>
            <a:ext cx="3931920" cy="822960"/>
          </a:xfrm>
          <a:prstGeom prst="rect">
            <a:avLst/>
          </a:prstGeom>
          <a:solidFill>
            <a:srgbClr val="252B5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3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2971800"/>
            <a:ext cx="365760" cy="365760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5349240" y="28346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Checkpointing</a:t>
            </a:r>
            <a:endParaRPr lang="en-US" sz="1200" dirty="0"/>
          </a:p>
        </p:txBody>
      </p:sp>
      <p:sp>
        <p:nvSpPr>
          <p:cNvPr id="39" name="Text 35"/>
          <p:cNvSpPr/>
          <p:nvPr/>
        </p:nvSpPr>
        <p:spPr>
          <a:xfrm>
            <a:off x="5349240" y="31546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MemorySaver provides resumability. Pipeline can restart from last successful node.</a:t>
            </a:r>
            <a:endParaRPr lang="en-US" sz="1000" dirty="0"/>
          </a:p>
        </p:txBody>
      </p:sp>
      <p:sp>
        <p:nvSpPr>
          <p:cNvPr id="40" name="Shape 36"/>
          <p:cNvSpPr/>
          <p:nvPr/>
        </p:nvSpPr>
        <p:spPr>
          <a:xfrm>
            <a:off x="548640" y="3794760"/>
            <a:ext cx="3931920" cy="822960"/>
          </a:xfrm>
          <a:prstGeom prst="rect">
            <a:avLst/>
          </a:prstGeom>
          <a:solidFill>
            <a:srgbClr val="252B5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4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977640"/>
            <a:ext cx="365760" cy="365760"/>
          </a:xfrm>
          <a:prstGeom prst="rect">
            <a:avLst/>
          </a:prstGeom>
        </p:spPr>
      </p:pic>
      <p:sp>
        <p:nvSpPr>
          <p:cNvPr id="42" name="Text 37"/>
          <p:cNvSpPr/>
          <p:nvPr/>
        </p:nvSpPr>
        <p:spPr>
          <a:xfrm>
            <a:off x="1143000" y="3840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Isolation</a:t>
            </a:r>
            <a:endParaRPr lang="en-US" sz="1200" dirty="0"/>
          </a:p>
        </p:txBody>
      </p:sp>
      <p:sp>
        <p:nvSpPr>
          <p:cNvPr id="43" name="Text 38"/>
          <p:cNvSpPr/>
          <p:nvPr/>
        </p:nvSpPr>
        <p:spPr>
          <a:xfrm>
            <a:off x="1143000" y="41605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Per-document error handling. One failure doesn't block other documents. partial_failure status.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4754880" y="3794760"/>
            <a:ext cx="3931920" cy="822960"/>
          </a:xfrm>
          <a:prstGeom prst="rect">
            <a:avLst/>
          </a:prstGeom>
          <a:solidFill>
            <a:srgbClr val="252B5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4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977640"/>
            <a:ext cx="365760" cy="365760"/>
          </a:xfrm>
          <a:prstGeom prst="rect">
            <a:avLst/>
          </a:prstGeom>
        </p:spPr>
      </p:pic>
      <p:sp>
        <p:nvSpPr>
          <p:cNvPr id="46" name="Text 40"/>
          <p:cNvSpPr/>
          <p:nvPr/>
        </p:nvSpPr>
        <p:spPr>
          <a:xfrm>
            <a:off x="5349240" y="3840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Bus</a:t>
            </a:r>
            <a:endParaRPr lang="en-US" sz="1200" dirty="0"/>
          </a:p>
        </p:txBody>
      </p:sp>
      <p:sp>
        <p:nvSpPr>
          <p:cNvPr id="47" name="Text 41"/>
          <p:cNvSpPr/>
          <p:nvPr/>
        </p:nvSpPr>
        <p:spPr>
          <a:xfrm>
            <a:off x="5349240" y="41605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progress updates via SSE. Bulk job status tracked in bulk_jobs + bulk_job_documents tables.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Shared Services &amp; Reuse Patterns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DeepAgents (single-doc) and LangGraph (bulk) share the same core services, ensuring consistency and reducing duplication.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200400" cy="41148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173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DeepAgent (Single Doc)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32004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92024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User-driven step-by-step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Editing + review stages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+ 5 subagents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stack applied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394960" y="1417320"/>
            <a:ext cx="3200400" cy="4114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9" name="Text 7"/>
          <p:cNvSpPr/>
          <p:nvPr/>
        </p:nvSpPr>
        <p:spPr>
          <a:xfrm>
            <a:off x="5394960" y="14173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(Bulk Pipeline)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394960" y="1828800"/>
            <a:ext cx="32004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577840" y="192024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flow, no edit step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multi-document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StateGraph with checkpointing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Per-doc error isolation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931920" y="1600200"/>
            <a:ext cx="1280160" cy="1371600"/>
          </a:xfrm>
          <a:prstGeom prst="rect">
            <a:avLst/>
          </a:prstGeom>
          <a:solidFill>
            <a:srgbClr val="1A1F3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931920" y="1600200"/>
            <a:ext cx="1280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337560"/>
            <a:ext cx="54864" cy="2743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Agent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606040" y="3337560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hybrid classifier function called from both orchestrator and LangGraph classify_node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3657600"/>
            <a:ext cx="54864" cy="2743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657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Extractor Agent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606040" y="3657600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Pydantic model builder. Identical extraction logic with value + source pairs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3977640"/>
            <a:ext cx="54864" cy="2743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977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Agent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606040" y="3977640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Field-aware confidence scoring. Same evaluation criteria across single and bulk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297680"/>
            <a:ext cx="54864" cy="2743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4297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Summarizer Agent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606040" y="4297680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PE-attribute-preserving summaries with identical 17-attribute prompt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48640" y="4617720"/>
            <a:ext cx="54864" cy="2743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4617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Service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606040" y="4617720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caching (SHA-256 content hash). Force param for cache bypass. Shared by both paths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48640" y="4937760"/>
            <a:ext cx="54864" cy="2743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4937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606040" y="4937760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status transitions validated consistently regardless of processing mode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Agent &amp; Analytics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645920" cy="777240"/>
          </a:xfrm>
          <a:prstGeom prst="rect">
            <a:avLst/>
          </a:prstGeom>
          <a:solidFill>
            <a:srgbClr val="0077B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05156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148840" y="11430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468880" y="1051560"/>
            <a:ext cx="1645920" cy="777240"/>
          </a:xfrm>
          <a:prstGeom prst="rect">
            <a:avLst/>
          </a:prstGeom>
          <a:solidFill>
            <a:srgbClr val="252B5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468880" y="105156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Introspection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069080" y="11430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389120" y="1051560"/>
            <a:ext cx="1645920" cy="777240"/>
          </a:xfrm>
          <a:prstGeom prst="rect">
            <a:avLst/>
          </a:prstGeom>
          <a:solidFill>
            <a:srgbClr val="8B5CF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389120" y="105156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GPT-5.3-codex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Generation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89320" y="11430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309360" y="1051560"/>
            <a:ext cx="1645920" cy="777240"/>
          </a:xfrm>
          <a:prstGeom prst="rect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09360" y="105156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Execution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(Parameterized)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103120"/>
            <a:ext cx="8046720" cy="365760"/>
          </a:xfrm>
          <a:prstGeom prst="rect">
            <a:avLst/>
          </a:prstGeom>
          <a:solidFill>
            <a:srgbClr val="1A1F3D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103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Tabular results + auto-suggested chart type (bar, line, pie, table) with configuration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743200"/>
            <a:ext cx="39319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5800" y="2788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Schema-Aware Prompting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" y="309067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 introspected at runtime and injected into the LLM system prompt. Tables, columns, types, and relationships included.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2743200"/>
            <a:ext cx="39319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92040" y="2788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 Safety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92040" y="309067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SELECT queries allowed. Parameterized execution prevents injection. PII filtering middleware applied before LLM calls.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3840480"/>
            <a:ext cx="39319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85800" y="3886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Chart Recommendations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5800" y="418795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suggests optimal visualization type based on query result shape. Bar for comparisons, line for trends, pie for distributions.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3840480"/>
            <a:ext cx="39319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92040" y="3886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 Integration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92040" y="418795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AnalyticsPage with ChatInput. ChartRenderer component uses Recharts. Results displayed as interactive tables and charts.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Non-Blocking Audit Framework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2286000" cy="914400"/>
          </a:xfrm>
          <a:prstGeom prst="rect">
            <a:avLst/>
          </a:prstGeom>
          <a:solidFill>
            <a:srgbClr val="0077B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0515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/ Service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880360" y="114300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&amp;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566160" y="1051560"/>
            <a:ext cx="2103120" cy="914400"/>
          </a:xfrm>
          <a:prstGeom prst="rect">
            <a:avLst/>
          </a:prstGeom>
          <a:solidFill>
            <a:srgbClr val="1A1F3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566160" y="10515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Queue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(Background Thread)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35040" y="822960"/>
            <a:ext cx="2560320" cy="502920"/>
          </a:xfrm>
          <a:prstGeom prst="rect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035040" y="8229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audit_logs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0" y="1463040"/>
            <a:ext cx="2560320" cy="502920"/>
          </a:xfrm>
          <a:prstGeom prst="rect">
            <a:avLst/>
          </a:prstGeom>
          <a:solidFill>
            <a:srgbClr val="8B5CF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0" y="14630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Broadcast (real-time)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377440"/>
            <a:ext cx="39319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5800" y="24048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Non-Blocking Design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2679192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Fire-and-forget enqueuing. The calling code never waits for audit persistence. Background thread runs its own asyncio event loop.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54880" y="2377440"/>
            <a:ext cx="39319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92040" y="24048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Immutable Events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92040" y="2679192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AuditEvent dataclass is frozen. Once created, events cannot be modified. Provides a tamper-proof trail of all system actions.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" y="3291840"/>
            <a:ext cx="39319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5800" y="33192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Streaming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" y="3593592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(Server-Sent Events) broadcast to subscribed clients. Frontend useEventStream hook consumes events for live dashboard updates.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54880" y="3291840"/>
            <a:ext cx="39319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92040" y="33192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Graceful Shutdown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92040" y="3593592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application shutdown, the audit queue flushes remaining events before the background thread terminates. No events lost.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8640" y="4206240"/>
            <a:ext cx="39319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5800" y="4233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Event Types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5800" y="4507992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document.uploaded, document.parsed, classification.completed, extraction.completed, rag.query, analytics.query, bulk.started, bulk.completed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54880" y="4206240"/>
            <a:ext cx="39319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892040" y="4233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 Guard Middleware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92040" y="4507992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request limiting at the API layer. Prevents audit queue overflow during high-traffic bulk operations.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15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DeepAgent Middleware Stack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middleware applied to every agent call. Configurable via factory.py.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8046720" cy="457200"/>
          </a:xfrm>
          <a:prstGeom prst="rect">
            <a:avLst/>
          </a:prstGeom>
          <a:solidFill>
            <a:srgbClr val="252B50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280160"/>
            <a:ext cx="73152" cy="45720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2801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 Middleware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83280" y="12801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tasks to specialized subagents (classifier, extractor, judge, summarizer, RAG retriever). Handles subagent lifecycle and response aggregation.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1810512"/>
            <a:ext cx="8046720" cy="457200"/>
          </a:xfrm>
          <a:prstGeom prst="rect">
            <a:avLst/>
          </a:prstGeom>
          <a:solidFill>
            <a:srgbClr val="252B50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810512"/>
            <a:ext cx="73152" cy="4572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181051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Summarization Middleware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83280" y="181051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context window by summarizing long conversations. Prevents token overflow in multi-step agent interactions.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340864"/>
            <a:ext cx="8046720" cy="457200"/>
          </a:xfrm>
          <a:prstGeom prst="rect">
            <a:avLst/>
          </a:prstGeom>
          <a:solidFill>
            <a:srgbClr val="252B50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2340864"/>
            <a:ext cx="73152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234086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Call Limit (50/run)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83280" y="234086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cap on LLM invocations per agent run. Prevents runaway loops and controls cost. Configurable per deployment.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2871216"/>
            <a:ext cx="8046720" cy="457200"/>
          </a:xfrm>
          <a:prstGeom prst="rect">
            <a:avLst/>
          </a:prstGeom>
          <a:solidFill>
            <a:srgbClr val="252B50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2871216"/>
            <a:ext cx="73152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287121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 Limit (200/run)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83280" y="2871216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on tool invocations per run. Ensures agents don't enter infinite tool-calling loops. Separate from model calls.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3401568"/>
            <a:ext cx="8046720" cy="457200"/>
          </a:xfrm>
          <a:prstGeom prst="rect">
            <a:avLst/>
          </a:prstGeom>
          <a:solidFill>
            <a:srgbClr val="252B50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3401568"/>
            <a:ext cx="73152" cy="4572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340156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Retry (3x, Exp. Backoff)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83280" y="340156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 failed LLM calls with exponential backoff (base 1s, max 60s). Handles transient API errors and rate limits gracefully.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3931920"/>
            <a:ext cx="8046720" cy="457200"/>
          </a:xfrm>
          <a:prstGeom prst="rect">
            <a:avLst/>
          </a:prstGeom>
          <a:solidFill>
            <a:srgbClr val="252B50"/>
          </a:solidFill>
          <a:ln/>
        </p:spPr>
      </p:sp>
      <p:sp>
        <p:nvSpPr>
          <p:cNvPr id="26" name="Shape 24"/>
          <p:cNvSpPr/>
          <p:nvPr/>
        </p:nvSpPr>
        <p:spPr>
          <a:xfrm>
            <a:off x="548640" y="3931920"/>
            <a:ext cx="73152" cy="457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39319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Filter Middleware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83280" y="39319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Redacts SSN, email, phone, address before LLM calls. Financial term passthrough ensures PE-relevant data isn't filtered. Applied to logging too.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4462272"/>
            <a:ext cx="8046720" cy="457200"/>
          </a:xfrm>
          <a:prstGeom prst="rect">
            <a:avLst/>
          </a:prstGeom>
          <a:solidFill>
            <a:srgbClr val="252B50"/>
          </a:solidFill>
          <a:ln/>
        </p:spPr>
      </p:sp>
      <p:sp>
        <p:nvSpPr>
          <p:cNvPr id="30" name="Shape 28"/>
          <p:cNvSpPr/>
          <p:nvPr/>
        </p:nvSpPr>
        <p:spPr>
          <a:xfrm>
            <a:off x="548640" y="4462272"/>
            <a:ext cx="73152" cy="457200"/>
          </a:xfrm>
          <a:prstGeom prst="rect">
            <a:avLst/>
          </a:prstGeom>
          <a:solidFill>
            <a:srgbClr val="1A1F3D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44622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 Middleware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383280" y="446227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agent call frequency. Prevents API quota exhaustion. Configurable per-agent and per-deployment.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Flow: Incoming → PII Filter → Rate Limit → SubAgent → Summarization → Model Retry → Call Limits → LLM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 &amp; Storage Design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PostgreSQL 16 — 12 Tables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1920240" cy="32004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716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Documents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78308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document_categories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document_summaries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51760" y="137160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651760" y="1371600"/>
            <a:ext cx="1920240" cy="3200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0" name="Text 8"/>
          <p:cNvSpPr/>
          <p:nvPr/>
        </p:nvSpPr>
        <p:spPr>
          <a:xfrm>
            <a:off x="2651760" y="13716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88920" y="178308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extraction_schemas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extraction_fields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extracted_values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37160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371600"/>
            <a:ext cx="1920240" cy="3200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3716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Processing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92040" y="178308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bulk_jobs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bulk_job_documents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58000" y="137160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58000" y="1371600"/>
            <a:ext cx="1920240" cy="320040"/>
          </a:xfrm>
          <a:prstGeom prst="rect">
            <a:avLst/>
          </a:prstGeom>
          <a:solidFill>
            <a:srgbClr val="1A1F3D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0" y="13716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&amp; Audit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995160" y="178308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conversation_summaries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memory_entries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audit_logs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31089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Disk Storage Layout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1520" y="3566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data/upload/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651760" y="3566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uploaded files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3886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data/parsed/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651760" y="3886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Parsed markdown ({filename}.md)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1520" y="4206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data/summary/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651760" y="4206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cache ({doc_id}.json)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1520" y="4526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data/extraction/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651760" y="4526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cache ({doc_id}.json)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9200" y="31089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Weaviate Vector Store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029200" y="3520440"/>
            <a:ext cx="35661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166360" y="3611880"/>
            <a:ext cx="3291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Collection: DocumentChunks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(text), document_id, document_name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document_category, file_name, chunk_index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Vectorizer: text2vec-openai</a:t>
            </a:r>
            <a:endParaRPr lang="en-US" sz="11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Search: hybrid (BM25 + vector)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Vite + TypeScript + Tailwind CSS + TanStack Query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26517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80160"/>
            <a:ext cx="265176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3533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58368" y="1645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grid / table view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detail panel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3280" y="1280160"/>
            <a:ext cx="26517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83280" y="1280160"/>
            <a:ext cx="265176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3493008" y="13533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Upload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93008" y="1645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Drag-drop upload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+ bulk modes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1280160"/>
            <a:ext cx="26517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280160"/>
            <a:ext cx="265176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6327648" y="13533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Parse / Edit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27648" y="1645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view: markdown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TipTap rich editor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377440"/>
            <a:ext cx="26517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2377440"/>
            <a:ext cx="265176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24505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Bulk Jobs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8368" y="2743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tracking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Per-document status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83280" y="2377440"/>
            <a:ext cx="26517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383280" y="2377440"/>
            <a:ext cx="265176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2" name="Text 20"/>
          <p:cNvSpPr/>
          <p:nvPr/>
        </p:nvSpPr>
        <p:spPr>
          <a:xfrm>
            <a:off x="3493008" y="24505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Analytics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493008" y="2743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query interface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 visualization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17920" y="2377440"/>
            <a:ext cx="26517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17920" y="2377440"/>
            <a:ext cx="265176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6" name="Text 24"/>
          <p:cNvSpPr/>
          <p:nvPr/>
        </p:nvSpPr>
        <p:spPr>
          <a:xfrm>
            <a:off x="6327648" y="24505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RAG Chat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27648" y="2743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Q&amp;A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cards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3657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 &amp; Data Management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48640" y="4114800"/>
            <a:ext cx="19659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40080" y="41605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TanStack Query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080" y="44348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server state: caching, background refetch, optimistic updates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697480" y="4114800"/>
            <a:ext cx="19659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788920" y="41605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Context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788920" y="44348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UI-only state: theme, active filters, selected document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46320" y="4114800"/>
            <a:ext cx="19659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937760" y="41605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Client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937760" y="44348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base URL, snake_case ↔ camelCase transformers, interceptors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995160" y="4114800"/>
            <a:ext cx="19659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086600" y="41605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Events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086600" y="44348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useEventStream hook for real-time audit log updates and bulk progress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Caching &amp; Performance Strategy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Dual Storage Pattern (DB + Disk)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554480" cy="731520"/>
          </a:xfrm>
          <a:prstGeom prst="rect">
            <a:avLst/>
          </a:prstGeom>
          <a:solidFill>
            <a:srgbClr val="0077B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4173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(extract/summarize)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874520" y="15544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103120" y="1417320"/>
            <a:ext cx="1554480" cy="731520"/>
          </a:xfrm>
          <a:prstGeom prst="rect">
            <a:avLst/>
          </a:prstGeom>
          <a:solidFill>
            <a:srgbClr val="252B5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103120" y="14173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Hash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11880" y="15544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40480" y="1417320"/>
            <a:ext cx="1554480" cy="731520"/>
          </a:xfrm>
          <a:prstGeom prst="rect">
            <a:avLst/>
          </a:prstGeom>
          <a:solidFill>
            <a:srgbClr val="8B5CF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840480" y="14173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Disk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49240" y="15544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577840" y="1417320"/>
            <a:ext cx="1554480" cy="73152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577840" y="14173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Hit?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Cached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086600" y="15544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15200" y="1417320"/>
            <a:ext cx="1554480" cy="73152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0" y="14173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Miss?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LLM Pipeline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2468880"/>
            <a:ext cx="39319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5800" y="2487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Content-Hash Invalidation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" y="2761488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of parsed markdown content. Cache automatically invalidated when document is re-parsed or edited. force=true bypasses cache.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54880" y="2468880"/>
            <a:ext cx="39319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92040" y="2487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File Dedup on Upload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92040" y="2761488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hash on upload. If file already exists with matching hash, skip re-parsing entirely. Hash mismatch triggers re-parse.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8640" y="3337560"/>
            <a:ext cx="39319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5800" y="33558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Async I/O Throughout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5800" y="3630168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asyncpg driver for PostgreSQL. async Weaviate client. asyncio.Semaphore for bulk concurrency control. No blocking calls.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54880" y="3337560"/>
            <a:ext cx="39319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892040" y="33558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Selective Loading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92040" y="3630168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selectinload(category) for document list queries. Avoids N+1 queries. TanStack Query handles frontend caching and background refetch.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48640" y="4206240"/>
            <a:ext cx="39319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85800" y="42245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Concurrent Bulk Processing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85800" y="4498848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parallelism (default 3, max 10). asyncio.Semaphore prevents resource exhaustion. Per-document error isolation.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54880" y="4206240"/>
            <a:ext cx="39319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892040" y="42245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Cost Control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92040" y="4498848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caching avoids redundant LLM calls. Model call limits (50/run) prevent runaway costs. Retry with exponential backoff.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215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Production Readiness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2651760" cy="1783080"/>
          </a:xfrm>
          <a:prstGeom prst="rect">
            <a:avLst/>
          </a:prstGeom>
          <a:solidFill>
            <a:srgbClr val="252B5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05840"/>
            <a:ext cx="2651760" cy="36576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058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Docker Compose (PostgreSQL 16 + Weaviate 1.30)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85800" y="1783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Health check endpoints for all services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85800" y="2103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init.sh bootstrap script for full stack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85800" y="2423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Environment-based config (pydantic_settings)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83280" y="1005840"/>
            <a:ext cx="2651760" cy="1783080"/>
          </a:xfrm>
          <a:prstGeom prst="rect">
            <a:avLst/>
          </a:prstGeom>
          <a:solidFill>
            <a:srgbClr val="252B5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83280" y="1005840"/>
            <a:ext cx="2651760" cy="3657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0" y="10058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20440" y="1463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OpenTelemetry integration (optional)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520440" y="1783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LangSmith tracing for LLM calls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520440" y="2103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Structured logging throughout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520440" y="2423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SSE audit event streaming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217920" y="1005840"/>
            <a:ext cx="2651760" cy="1783080"/>
          </a:xfrm>
          <a:prstGeom prst="rect">
            <a:avLst/>
          </a:prstGeom>
          <a:solidFill>
            <a:srgbClr val="252B5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1005840"/>
            <a:ext cx="2651760" cy="3657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0" y="10058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55080" y="1463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PII redaction before LLM calls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355080" y="1783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PII filtering in application logs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355080" y="2103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Financial term passthrough (PE context)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355080" y="2423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Parameterized SQL in data agent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8640" y="2971800"/>
            <a:ext cx="2651760" cy="1783080"/>
          </a:xfrm>
          <a:prstGeom prst="rect">
            <a:avLst/>
          </a:prstGeom>
          <a:solidFill>
            <a:srgbClr val="252B5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8640" y="2971800"/>
            <a:ext cx="2651760" cy="3657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29718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85800" y="3429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Exponential backoff retry (3x, max 60s)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85800" y="3749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Per-document error isolation in bulk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85800" y="4069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Graceful audit queue shutdown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85800" y="4389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LangGraph checkpointing for resumability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383280" y="2971800"/>
            <a:ext cx="2651760" cy="1783080"/>
          </a:xfrm>
          <a:prstGeom prst="rect">
            <a:avLst/>
          </a:prstGeom>
          <a:solidFill>
            <a:srgbClr val="252B5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383280" y="2971800"/>
            <a:ext cx="2651760" cy="365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3383280" y="29718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520440" y="3429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TDD mandatory, 80% coverage floor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520440" y="3749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Static typing (zero any in TypeScript)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520440" y="4069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Functions &lt; 50 lines, files &lt; 300 lines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520440" y="4389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Layered architecture enforcement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217920" y="2971800"/>
            <a:ext cx="2651760" cy="1783080"/>
          </a:xfrm>
          <a:prstGeom prst="rect">
            <a:avLst/>
          </a:prstGeom>
          <a:solidFill>
            <a:srgbClr val="252B5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217920" y="2971800"/>
            <a:ext cx="2651760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1" name="Text 39"/>
          <p:cNvSpPr/>
          <p:nvPr/>
        </p:nvSpPr>
        <p:spPr>
          <a:xfrm>
            <a:off x="6217920" y="29718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Experience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355080" y="3429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Conventional commits (feat:, fix:, etc.)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355080" y="3749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Ruff + mypy for Python linting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355080" y="4069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ESLint + TypeScript strict mode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355080" y="4389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Architecture check hook on file save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Strict Layered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One-way dependencies only. check-architecture hook enforces on every file save.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828800" y="1325880"/>
            <a:ext cx="5486400" cy="502920"/>
          </a:xfrm>
          <a:prstGeom prst="rect">
            <a:avLst/>
          </a:prstGeom>
          <a:solidFill>
            <a:srgbClr val="00B4D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828800" y="13258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6: UI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23360" y="13258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Components, pages, client state, rendering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965960" y="1920240"/>
            <a:ext cx="5212080" cy="502920"/>
          </a:xfrm>
          <a:prstGeom prst="rect">
            <a:avLst/>
          </a:prstGeom>
          <a:solidFill>
            <a:srgbClr val="0077B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965960" y="1920240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5: API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50792" y="1920240"/>
            <a:ext cx="312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handlers, middleware, validation, schemas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03120" y="2514600"/>
            <a:ext cx="4937760" cy="502920"/>
          </a:xfrm>
          <a:prstGeom prst="rect">
            <a:avLst/>
          </a:prstGeom>
          <a:solidFill>
            <a:srgbClr val="8B5CF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103120" y="2514600"/>
            <a:ext cx="1975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4: Service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078224" y="2514600"/>
            <a:ext cx="2962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logic, domain rules, orchestration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40280" y="3108960"/>
            <a:ext cx="4663440" cy="502920"/>
          </a:xfrm>
          <a:prstGeom prst="rect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240280" y="3108960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3: Repository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05656" y="3108960"/>
            <a:ext cx="2798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access, persistence, external sources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377440" y="3703320"/>
            <a:ext cx="4389120" cy="502920"/>
          </a:xfrm>
          <a:prstGeom prst="rect">
            <a:avLst/>
          </a:prstGeom>
          <a:solidFill>
            <a:srgbClr val="1A1F3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377440" y="3703320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2: Config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33088" y="3703320"/>
            <a:ext cx="2633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variables, feature flags, constants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14600" y="4297680"/>
            <a:ext cx="4114800" cy="502920"/>
          </a:xfrm>
          <a:prstGeom prst="rect">
            <a:avLst/>
          </a:prstGeom>
          <a:solidFill>
            <a:srgbClr val="12152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514600" y="42976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1: Types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160520" y="42976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models, interfaces, enums, shared types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Cross-Cutting Concerns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4892040"/>
            <a:ext cx="1965960" cy="22860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489204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(src/lib/logger)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697480" y="4892040"/>
            <a:ext cx="1965960" cy="22860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6" name="Text 24"/>
          <p:cNvSpPr/>
          <p:nvPr/>
        </p:nvSpPr>
        <p:spPr>
          <a:xfrm>
            <a:off x="2697480" y="489204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(DI / middleware)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846320" y="4892040"/>
            <a:ext cx="1965960" cy="22860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489204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(OpenTelemetry)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995160" y="4892040"/>
            <a:ext cx="1965960" cy="22860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0" name="Text 28"/>
          <p:cNvSpPr/>
          <p:nvPr/>
        </p:nvSpPr>
        <p:spPr>
          <a:xfrm>
            <a:off x="6995160" y="489204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 (typed errors)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 Document Intelligence Platform — Architecture</dc:title>
  <dc:subject>PptxGenJS Presentation</dc:subject>
  <dc:creator>PE Document Intelligence</dc:creator>
  <cp:lastModifiedBy>PE Document Intelligence</cp:lastModifiedBy>
  <cp:revision>1</cp:revision>
  <dcterms:created xsi:type="dcterms:W3CDTF">2026-04-04T15:59:06Z</dcterms:created>
  <dcterms:modified xsi:type="dcterms:W3CDTF">2026-04-04T15:59:06Z</dcterms:modified>
</cp:coreProperties>
</file>